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8288000" cy="10287000"/>
  <p:notesSz cx="6858000" cy="9144000"/>
  <p:embeddedFontLst>
    <p:embeddedFont>
      <p:font typeface="Arial Bold" charset="1" panose="020B0704020202020204"/>
      <p:regular r:id="rId8"/>
    </p:embeddedFont>
    <p:embeddedFont>
      <p:font typeface="Arial" charset="1" panose="020B0604020202020204"/>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font8.fntdata"/><Relationship Id="rId9" Type="http://schemas.openxmlformats.org/officeDocument/2006/relationships/font" Target="fonts/font9.fntdata"/><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trình bày kết quả thiết kế và xây dựng thiết bị phân tích logic tám kênh trên STM32F103C8. Nội dung tập trung vào kiến trúc, cơ chế lấy mẫu, phần mềm hiển thị và các kết quả kiểm thử phần cứng trong vòng.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hệ thống số, mức điện áp đúng chưa đủ để kết luận giao tiếp đúng. Nhiều lỗi chỉ xuất hiện trong quan hệ thời gian giữa các đường tín hiệu, vì vậy nhóm cần một công cụ ghi đồng thời nhiều kênh và cho phép phân tích lại trên máy tính.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Mục tiêu tối thiểu của đề tài là hai kênh và tốc độ từ một kilohertz. Mẫu thử thực tế được triển khai với tám kênh, có giao diện máy tính và ba bộ giải mã giao thức. Phạm vi đánh giá gồm cả firmware, khung truyền dữ liệu và phần mềm PC.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được chia thành ba lớp. Arduino tạo tín hiệu tham chiếu, STM32 lấy mẫu tám bit đồng thời và đóng gói thành khung SLA8, còn phần mềm PC kiểm tra khung rồi hiển thị hoặc giải mã. Việc đọc GPIOA IDR một lần giúp giảm sai lệch tương đối giữa các kênh.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Tám đầu vào được đưa trực tiếp vào PA0 đến PA7, còn USART1 dùng để truyền dữ liệu về máy tính. Arduino được cấu hình open-drain để mức cao do điện trở kéo lên ba phẩy ba volt tạo ra. Báo cáo không giả định thêm khối bảo vệ đầu vào vì chưa có sơ đồ nguyên lý đầy đủ.</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trigger tức thời, DMA chuyển trực tiếp trạng thái GPIO vào RAM nên đạt tốc độ cao hơn. Khi cần trigger cạnh hoặc mẫu, ISR phải kiểm tra điều kiện và quản lý vùng trước sau trigger, vì vậy trần tốc độ thấp hơn. Hai giới hạn trên đều được xác nhận bằng kiểm thử phần cứng.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Firmware làm việc theo chuỗi cấu hình, arm, capture, báo sự kiện rồi mới dump dữ liệu. Khung SLA8 tách metadata khỏi payload và dùng checksum FNV một a để phát hiện lỗi truyền. Mỗi mẫu chỉ chiếm một byte vì tám kênh được đóng vào tám bit.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mềm PC chịu trách nhiệm cấu hình thiết bị, nhận khung và kiểm checksum trước khi hiển thị. Người dùng có thể xem tám kênh, phóng to theo thời gian, đo cạnh và chạy các decoder UART, I2C hoặc SPI trên dữ liệu đã thu.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thử phần cứng trong vòng dùng Arduino làm nguồn tham chiếu và STM32 làm thiết bị cần đánh giá. Chuỗi Gray phù hợp để phát hiện mất mẫu hoặc sai quan hệ giữa kênh vì hai trạng thái liên tiếp chỉ được phép khác một bit. Mười kịch bản được nhóm theo toàn vẹn, tốc độ, giao thức và trigger.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 thu sạch tại sáu phẩy năm bốn năm megasample mỗi giây với sai số dưới một phần trăm nghìn. ISR đạt bốn trăm kilosample mỗi giây và không ghi nhận overrun. Khi yêu cầu vượt trần, firmware trả lỗi thay vì tiếp tục với dữ liệu không đáng tin cậy.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Dữ liệu Gray xác nhận đủ tám kênh và không phát hiện lỗi trình tự trong cửa sổ kiểm thử. Từ oracle này chỉ có thể kết luận sai lệch giữa kênh nhỏ hơn một chu kỳ mẫu, chưa thể coi là phép đo jitter tuyệt đối. Thử nghiệm Nyquist cho thấy lấy mẫu quá thấp biến tín hiệu hai mươi lăm kilohertz thành thành phần giả khoảng năm kilohertz.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bộ giải mã được kiểm tra bằng tín hiệu thật. UART thu đúng chuỗi byte và không có lỗi framing, I2C nhận đúng địa chỉ cùng trạng thái ACK và NACK, còn SPI nhận đúng ba cặp MOSI và MISO trong giao dịch có chip select.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bị cần hành xử an toàn cả khi điều kiện đo không phù hợp. Với SPI bị lấy mẫu thiếu, decoder đưa ra cảnh báo và không tạo byte sai. Trigger cạnh rơi trên kênh sáu giữ được vùng trước trigger, còn cấu hình sai bị firmware từ chối rõ ràng.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Mẫu thử vượt yêu cầu tối thiểu về số kênh và giữ được mức một kilohertz ở đầu dải. Giao diện hiển thị đủ tám kênh, ba decoder đều có bằng chứng vật lý và toàn bộ mười kịch bản kiểm thử đạt. Các trường hợp vượt giới hạn được từ chối thay vì âm thầm sinh dữ liệu sai.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vẫn còn các giới hạn cần được trình bày trung thực, đặc biệt là jitter tuyệt đối, mạch đầu vào và cấu hình SPI. Tuy vậy, mẫu thử đã hoàn thành chuỗi chức năng chính từ thu tám kênh, truyền khung, hiển thị đến giải mã và trigger. Kết quả HIL cho thấy hệ thống hoạt động ổn định trong miền đã kiểm chứng và từ chối các cấu hình vượt giới hạn.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344408" y="309649"/>
            <a:ext cx="4761176" cy="1729616"/>
            <a:chOff x="0" y="0"/>
            <a:chExt cx="6348235" cy="2306155"/>
          </a:xfrm>
        </p:grpSpPr>
        <p:sp>
          <p:nvSpPr>
            <p:cNvPr name="Freeform 4" id="4" descr="Text  Description automatically generated"/>
            <p:cNvSpPr/>
            <p:nvPr/>
          </p:nvSpPr>
          <p:spPr>
            <a:xfrm flipH="false" flipV="false" rot="0">
              <a:off x="0" y="0"/>
              <a:ext cx="6348222" cy="2306193"/>
            </a:xfrm>
            <a:custGeom>
              <a:avLst/>
              <a:gdLst/>
              <a:ahLst/>
              <a:cxnLst/>
              <a:rect r="r" b="b" t="t" l="l"/>
              <a:pathLst>
                <a:path h="2306193" w="6348222">
                  <a:moveTo>
                    <a:pt x="0" y="0"/>
                  </a:moveTo>
                  <a:lnTo>
                    <a:pt x="6348222" y="0"/>
                  </a:lnTo>
                  <a:lnTo>
                    <a:pt x="6348222" y="2306193"/>
                  </a:lnTo>
                  <a:lnTo>
                    <a:pt x="0" y="2306193"/>
                  </a:lnTo>
                  <a:lnTo>
                    <a:pt x="0" y="0"/>
                  </a:lnTo>
                  <a:close/>
                </a:path>
              </a:pathLst>
            </a:custGeom>
            <a:blipFill>
              <a:blip r:embed="rId3"/>
              <a:stretch>
                <a:fillRect l="0" t="-14" r="0" b="-13"/>
              </a:stretch>
            </a:blipFill>
          </p:spPr>
        </p:sp>
      </p:grpSp>
      <p:sp>
        <p:nvSpPr>
          <p:cNvPr id="5" name="TextBox 4"/>
          <p:cNvSpPr txBox="1"/>
          <p:nvPr/>
        </p:nvSpPr>
        <p:spPr>
          <a:xfrm>
            <a:off x="960120" y="2176272"/>
            <a:ext cx="9875520" cy="502920"/>
          </a:xfrm>
          <a:prstGeom prst="rect">
            <a:avLst/>
          </a:prstGeom>
          <a:noFill/>
        </p:spPr>
        <p:txBody>
          <a:bodyPr wrap="square" anchor="t" lIns="45720" rIns="45720">
            <a:spAutoFit/>
          </a:bodyPr>
          <a:lstStyle/>
          <a:p>
            <a:pPr algn="l">
              <a:defRPr sz="2200" b="1" i="0">
                <a:solidFill>
                  <a:srgbClr val="C92535"/>
                </a:solidFill>
                <a:latin typeface="Arial"/>
              </a:defRPr>
            </a:pPr>
            <a:r>
              <a:t>BÁO CÁO BÀI TẬP LỚN</a:t>
            </a:r>
          </a:p>
        </p:txBody>
      </p:sp>
      <p:sp>
        <p:nvSpPr>
          <p:cNvPr id="6" name="TextBox 5"/>
          <p:cNvSpPr txBox="1"/>
          <p:nvPr/>
        </p:nvSpPr>
        <p:spPr>
          <a:xfrm>
            <a:off x="960120" y="2788920"/>
            <a:ext cx="10789920" cy="1508760"/>
          </a:xfrm>
          <a:prstGeom prst="rect">
            <a:avLst/>
          </a:prstGeom>
          <a:noFill/>
        </p:spPr>
        <p:txBody>
          <a:bodyPr wrap="square" anchor="t" lIns="45720" rIns="45720">
            <a:spAutoFit/>
          </a:bodyPr>
          <a:lstStyle/>
          <a:p>
            <a:pPr algn="l">
              <a:defRPr sz="3100" b="1" i="0">
                <a:solidFill>
                  <a:srgbClr val="002D57"/>
                </a:solidFill>
                <a:latin typeface="Arial"/>
              </a:defRPr>
            </a:pPr>
            <a:r>
              <a:t>THIẾT KẾ VÀ XÂY DỰNG</a:t>
            </a:r>
            <a:br/>
            <a:r>
              <a:t>THIẾT BỊ LOGIC ANALYZER ĐƠN GIẢN</a:t>
            </a:r>
          </a:p>
        </p:txBody>
      </p:sp>
      <p:sp>
        <p:nvSpPr>
          <p:cNvPr id="7" name="TextBox 6"/>
          <p:cNvSpPr txBox="1"/>
          <p:nvPr/>
        </p:nvSpPr>
        <p:spPr>
          <a:xfrm>
            <a:off x="960120" y="4407408"/>
            <a:ext cx="10515600" cy="438912"/>
          </a:xfrm>
          <a:prstGeom prst="rect">
            <a:avLst/>
          </a:prstGeom>
          <a:noFill/>
        </p:spPr>
        <p:txBody>
          <a:bodyPr wrap="square" anchor="t" lIns="45720" rIns="45720">
            <a:spAutoFit/>
          </a:bodyPr>
          <a:lstStyle/>
          <a:p>
            <a:pPr algn="l">
              <a:defRPr sz="1700" b="0" i="0">
                <a:solidFill>
                  <a:srgbClr val="5D6B78"/>
                </a:solidFill>
                <a:latin typeface="Arial"/>
              </a:defRPr>
            </a:pPr>
            <a:r>
              <a:t>Đề tài 1 · Hệ thống nhúng và thiết kế giao tiếp nhúng</a:t>
            </a:r>
          </a:p>
        </p:txBody>
      </p:sp>
      <p:sp>
        <p:nvSpPr>
          <p:cNvPr id="8" name="TextBox 7"/>
          <p:cNvSpPr txBox="1"/>
          <p:nvPr/>
        </p:nvSpPr>
        <p:spPr>
          <a:xfrm>
            <a:off x="960120" y="5486400"/>
            <a:ext cx="5577840" cy="1417320"/>
          </a:xfrm>
          <a:prstGeom prst="rect">
            <a:avLst/>
          </a:prstGeom>
          <a:noFill/>
        </p:spPr>
        <p:txBody>
          <a:bodyPr wrap="square" anchor="t" lIns="45720" rIns="45720">
            <a:spAutoFit/>
          </a:bodyPr>
          <a:lstStyle/>
          <a:p>
            <a:pPr algn="l">
              <a:defRPr sz="1600" b="0" i="0">
                <a:solidFill>
                  <a:srgbClr val="1E2A35"/>
                </a:solidFill>
                <a:latin typeface="Arial"/>
              </a:defRPr>
            </a:pPr>
            <a:r>
              <a:t>Đoàn Sinh Đức — 20234000</a:t>
            </a:r>
            <a:br/>
            <a:r>
              <a:t>Phạm Đăng Vinh — 20233719</a:t>
            </a:r>
            <a:br/>
            <a:r>
              <a:t>Vũ Mạnh Quân — 20234033</a:t>
            </a:r>
            <a:br/>
            <a:r>
              <a:t>Vũ Nam Khánh — 20234015</a:t>
            </a:r>
          </a:p>
        </p:txBody>
      </p:sp>
      <p:sp>
        <p:nvSpPr>
          <p:cNvPr id="9" name="TextBox 8"/>
          <p:cNvSpPr txBox="1"/>
          <p:nvPr/>
        </p:nvSpPr>
        <p:spPr>
          <a:xfrm>
            <a:off x="6720840" y="5486400"/>
            <a:ext cx="4297680" cy="914400"/>
          </a:xfrm>
          <a:prstGeom prst="rect">
            <a:avLst/>
          </a:prstGeom>
          <a:noFill/>
        </p:spPr>
        <p:txBody>
          <a:bodyPr wrap="square" anchor="t" lIns="45720" rIns="45720">
            <a:spAutoFit/>
          </a:bodyPr>
          <a:lstStyle/>
          <a:p>
            <a:pPr algn="l">
              <a:defRPr sz="1500" b="1" i="0">
                <a:solidFill>
                  <a:srgbClr val="003B70"/>
                </a:solidFill>
                <a:latin typeface="Arial"/>
              </a:defRPr>
            </a:pPr>
            <a:r>
              <a:t>GIẢNG VIÊN HƯỚNG DẪN</a:t>
            </a:r>
            <a:br/>
            <a:r>
              <a:t>TS. ĐÀO VIỆT HÙNG</a:t>
            </a:r>
          </a:p>
        </p:txBody>
      </p:sp>
      <p:sp>
        <p:nvSpPr>
          <p:cNvPr id="10" name="TextBox 9"/>
          <p:cNvSpPr txBox="1"/>
          <p:nvPr/>
        </p:nvSpPr>
        <p:spPr>
          <a:xfrm>
            <a:off x="960120" y="7452360"/>
            <a:ext cx="3200400" cy="320040"/>
          </a:xfrm>
          <a:prstGeom prst="rect">
            <a:avLst/>
          </a:prstGeom>
          <a:noFill/>
        </p:spPr>
        <p:txBody>
          <a:bodyPr wrap="square" anchor="t" lIns="45720" rIns="45720">
            <a:spAutoFit/>
          </a:bodyPr>
          <a:lstStyle/>
          <a:p>
            <a:pPr algn="l">
              <a:defRPr sz="1300" b="0" i="0">
                <a:solidFill>
                  <a:srgbClr val="5D6B78"/>
                </a:solidFill>
                <a:latin typeface="Arial"/>
              </a:defRPr>
            </a:pPr>
            <a:r>
              <a:t>Hà Nội, 7/2026</a:t>
            </a:r>
          </a:p>
        </p:txBody>
      </p:sp>
    </p:spTree>
  </p:cSld>
  <p:clrMapOvr>
    <a:masterClrMapping/>
  </p:clrMapOvr>
  <p:transition spd="med">
    <p:fade/>
  </p:transition>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ĐẶT VẤN ĐỀ</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02</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960120" y="1508760"/>
            <a:ext cx="7863840" cy="566928"/>
          </a:xfrm>
          <a:prstGeom prst="rect">
            <a:avLst/>
          </a:prstGeom>
          <a:noFill/>
        </p:spPr>
        <p:txBody>
          <a:bodyPr wrap="square" anchor="t" lIns="45720" rIns="45720">
            <a:spAutoFit/>
          </a:bodyPr>
          <a:lstStyle/>
          <a:p>
            <a:pPr algn="l">
              <a:defRPr sz="2700" b="1" i="0">
                <a:solidFill>
                  <a:srgbClr val="002D57"/>
                </a:solidFill>
                <a:latin typeface="Arial"/>
              </a:defRPr>
            </a:pPr>
            <a:r>
              <a:t>LỖI SỐ KHÔNG CHỈ NẰM Ở MỨC 0/1</a:t>
            </a:r>
          </a:p>
        </p:txBody>
      </p:sp>
      <p:sp>
        <p:nvSpPr>
          <p:cNvPr id="17" name="TextBox 16"/>
          <p:cNvSpPr txBox="1"/>
          <p:nvPr/>
        </p:nvSpPr>
        <p:spPr>
          <a:xfrm>
            <a:off x="960120" y="242316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18" name="TextBox 17"/>
          <p:cNvSpPr txBox="1"/>
          <p:nvPr/>
        </p:nvSpPr>
        <p:spPr>
          <a:xfrm>
            <a:off x="1252728" y="242316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Quan hệ thời gian giữa các kênh quyết định tính đúng của giao tiếp.</a:t>
            </a:r>
          </a:p>
        </p:txBody>
      </p:sp>
      <p:sp>
        <p:nvSpPr>
          <p:cNvPr id="19" name="TextBox 18"/>
          <p:cNvSpPr txBox="1"/>
          <p:nvPr/>
        </p:nvSpPr>
        <p:spPr>
          <a:xfrm>
            <a:off x="960120" y="324612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20" name="TextBox 19"/>
          <p:cNvSpPr txBox="1"/>
          <p:nvPr/>
        </p:nvSpPr>
        <p:spPr>
          <a:xfrm>
            <a:off x="1252728" y="324612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Thiếu xung, sai thứ tự cạnh hoặc sai khung rất khó quan sát bằng đồng hồ đo.</a:t>
            </a:r>
          </a:p>
        </p:txBody>
      </p:sp>
      <p:sp>
        <p:nvSpPr>
          <p:cNvPr id="21" name="TextBox 20"/>
          <p:cNvSpPr txBox="1"/>
          <p:nvPr/>
        </p:nvSpPr>
        <p:spPr>
          <a:xfrm>
            <a:off x="960120" y="4069080"/>
            <a:ext cx="237744" cy="274320"/>
          </a:xfrm>
          <a:prstGeom prst="rect">
            <a:avLst/>
          </a:prstGeom>
          <a:noFill/>
        </p:spPr>
        <p:txBody>
          <a:bodyPr wrap="square" anchor="t" lIns="45720" rIns="45720">
            <a:spAutoFit/>
          </a:bodyPr>
          <a:lstStyle/>
          <a:p>
            <a:pPr algn="l">
              <a:defRPr sz="2200" b="1" i="0">
                <a:solidFill>
                  <a:srgbClr val="C92535"/>
                </a:solidFill>
                <a:latin typeface="Arial"/>
              </a:defRPr>
            </a:pPr>
            <a:r>
              <a:t>•</a:t>
            </a:r>
          </a:p>
        </p:txBody>
      </p:sp>
      <p:sp>
        <p:nvSpPr>
          <p:cNvPr id="22" name="TextBox 21"/>
          <p:cNvSpPr txBox="1"/>
          <p:nvPr/>
        </p:nvSpPr>
        <p:spPr>
          <a:xfrm>
            <a:off x="1252728" y="4069080"/>
            <a:ext cx="8119871" cy="822960"/>
          </a:xfrm>
          <a:prstGeom prst="rect">
            <a:avLst/>
          </a:prstGeom>
          <a:noFill/>
        </p:spPr>
        <p:txBody>
          <a:bodyPr wrap="square" anchor="t" lIns="45720" rIns="45720">
            <a:spAutoFit/>
          </a:bodyPr>
          <a:lstStyle/>
          <a:p>
            <a:pPr algn="l">
              <a:defRPr sz="1900" b="0" i="0">
                <a:solidFill>
                  <a:srgbClr val="1E2A35"/>
                </a:solidFill>
                <a:latin typeface="Arial"/>
              </a:defRPr>
            </a:pPr>
            <a:r>
              <a:t>Cần ghi đồng thời nhiều tín hiệu và xem lại theo trục thời gian trên máy tính.</a:t>
            </a:r>
          </a:p>
        </p:txBody>
      </p:sp>
      <p:sp>
        <p:nvSpPr>
          <p:cNvPr id="23" name="Rounded Rectangle 22"/>
          <p:cNvSpPr/>
          <p:nvPr/>
        </p:nvSpPr>
        <p:spPr>
          <a:xfrm>
            <a:off x="10149840" y="1691640"/>
            <a:ext cx="338328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149840" y="1691640"/>
            <a:ext cx="100584" cy="19659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69296" y="1856232"/>
            <a:ext cx="2999232" cy="384048"/>
          </a:xfrm>
          <a:prstGeom prst="rect">
            <a:avLst/>
          </a:prstGeom>
          <a:noFill/>
        </p:spPr>
        <p:txBody>
          <a:bodyPr wrap="square" anchor="t" lIns="45720" rIns="45720">
            <a:spAutoFit/>
          </a:bodyPr>
          <a:lstStyle/>
          <a:p>
            <a:pPr algn="l">
              <a:defRPr sz="1800" b="1" i="0">
                <a:solidFill>
                  <a:srgbClr val="1C6EA4"/>
                </a:solidFill>
                <a:latin typeface="Arial"/>
              </a:defRPr>
            </a:pPr>
            <a:r>
              <a:t>GHI NHẬN</a:t>
            </a:r>
          </a:p>
        </p:txBody>
      </p:sp>
      <p:sp>
        <p:nvSpPr>
          <p:cNvPr id="26" name="TextBox 25"/>
          <p:cNvSpPr txBox="1"/>
          <p:nvPr/>
        </p:nvSpPr>
        <p:spPr>
          <a:xfrm>
            <a:off x="10369296" y="2313432"/>
            <a:ext cx="2999232" cy="1216152"/>
          </a:xfrm>
          <a:prstGeom prst="rect">
            <a:avLst/>
          </a:prstGeom>
          <a:noFill/>
        </p:spPr>
        <p:txBody>
          <a:bodyPr wrap="square" anchor="t" lIns="45720" rIns="45720">
            <a:spAutoFit/>
          </a:bodyPr>
          <a:lstStyle/>
          <a:p>
            <a:pPr algn="l">
              <a:defRPr sz="1700" b="0" i="0">
                <a:solidFill>
                  <a:srgbClr val="1E2A35"/>
                </a:solidFill>
                <a:latin typeface="Arial"/>
              </a:defRPr>
            </a:pPr>
            <a:r>
              <a:t>8 đường tín hiệu</a:t>
            </a:r>
            <a:br/>
            <a:r>
              <a:t>tại cùng thời điểm</a:t>
            </a:r>
          </a:p>
        </p:txBody>
      </p:sp>
      <p:sp>
        <p:nvSpPr>
          <p:cNvPr id="27" name="Right Arrow 26"/>
          <p:cNvSpPr/>
          <p:nvPr/>
        </p:nvSpPr>
        <p:spPr>
          <a:xfrm>
            <a:off x="13716000" y="2331720"/>
            <a:ext cx="914400" cy="41148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767559" y="1691640"/>
            <a:ext cx="256032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767559" y="1691640"/>
            <a:ext cx="100584" cy="19659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4987015" y="1856232"/>
            <a:ext cx="2176272" cy="384048"/>
          </a:xfrm>
          <a:prstGeom prst="rect">
            <a:avLst/>
          </a:prstGeom>
          <a:noFill/>
        </p:spPr>
        <p:txBody>
          <a:bodyPr wrap="square" anchor="t" lIns="45720" rIns="45720">
            <a:spAutoFit/>
          </a:bodyPr>
          <a:lstStyle/>
          <a:p>
            <a:pPr algn="l">
              <a:defRPr sz="1800" b="1" i="0">
                <a:solidFill>
                  <a:srgbClr val="1B8A5A"/>
                </a:solidFill>
                <a:latin typeface="Arial"/>
              </a:defRPr>
            </a:pPr>
            <a:r>
              <a:t>PHÂN TÍCH</a:t>
            </a:r>
          </a:p>
        </p:txBody>
      </p:sp>
      <p:sp>
        <p:nvSpPr>
          <p:cNvPr id="31" name="TextBox 30"/>
          <p:cNvSpPr txBox="1"/>
          <p:nvPr/>
        </p:nvSpPr>
        <p:spPr>
          <a:xfrm>
            <a:off x="14987015" y="2313432"/>
            <a:ext cx="2176272" cy="1216152"/>
          </a:xfrm>
          <a:prstGeom prst="rect">
            <a:avLst/>
          </a:prstGeom>
          <a:noFill/>
        </p:spPr>
        <p:txBody>
          <a:bodyPr wrap="square" anchor="t" lIns="45720" rIns="45720">
            <a:spAutoFit/>
          </a:bodyPr>
          <a:lstStyle/>
          <a:p>
            <a:pPr algn="l">
              <a:defRPr sz="1700" b="0" i="0">
                <a:solidFill>
                  <a:srgbClr val="1E2A35"/>
                </a:solidFill>
                <a:latin typeface="Arial"/>
              </a:defRPr>
            </a:pPr>
            <a:r>
              <a:t>Waveform</a:t>
            </a:r>
            <a:br/>
            <a:r>
              <a:t>+ decoder</a:t>
            </a:r>
          </a:p>
        </p:txBody>
      </p:sp>
      <p:sp>
        <p:nvSpPr>
          <p:cNvPr id="32" name="TextBox 31"/>
          <p:cNvSpPr txBox="1"/>
          <p:nvPr/>
        </p:nvSpPr>
        <p:spPr>
          <a:xfrm>
            <a:off x="10149840" y="4160520"/>
            <a:ext cx="7178040" cy="1097280"/>
          </a:xfrm>
          <a:prstGeom prst="rect">
            <a:avLst/>
          </a:prstGeom>
          <a:noFill/>
        </p:spPr>
        <p:txBody>
          <a:bodyPr wrap="square" anchor="ctr" lIns="45720" rIns="45720">
            <a:spAutoFit/>
          </a:bodyPr>
          <a:lstStyle/>
          <a:p>
            <a:pPr algn="ctr">
              <a:defRPr sz="2100" b="1" i="0">
                <a:solidFill>
                  <a:srgbClr val="003B70"/>
                </a:solidFill>
                <a:latin typeface="Arial"/>
              </a:defRPr>
            </a:pPr>
            <a:r>
              <a:t>Logic analyzer biến chuỗi trạng thái rời rạc thành bằng chứng về timing và giao thức.</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MỤC TIÊU VÀ PHẠM VI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03</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691640"/>
            <a:ext cx="100584" cy="19659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856232"/>
            <a:ext cx="2679192" cy="384048"/>
          </a:xfrm>
          <a:prstGeom prst="rect">
            <a:avLst/>
          </a:prstGeom>
          <a:noFill/>
        </p:spPr>
        <p:txBody>
          <a:bodyPr wrap="square" anchor="t" lIns="45720" rIns="45720">
            <a:spAutoFit/>
          </a:bodyPr>
          <a:lstStyle/>
          <a:p>
            <a:pPr algn="l">
              <a:defRPr sz="1900" b="1" i="0">
                <a:solidFill>
                  <a:srgbClr val="1C6EA4"/>
                </a:solidFill>
                <a:latin typeface="Arial"/>
              </a:defRPr>
            </a:pPr>
            <a:r>
              <a:t>8 KÊNH</a:t>
            </a:r>
          </a:p>
        </p:txBody>
      </p:sp>
      <p:sp>
        <p:nvSpPr>
          <p:cNvPr id="19" name="TextBox 18"/>
          <p:cNvSpPr txBox="1"/>
          <p:nvPr/>
        </p:nvSpPr>
        <p:spPr>
          <a:xfrm>
            <a:off x="1042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CH0–CH7</a:t>
            </a:r>
            <a:br/>
            <a:r>
              <a:t>PA0–PA7</a:t>
            </a:r>
          </a:p>
        </p:txBody>
      </p:sp>
      <p:sp>
        <p:nvSpPr>
          <p:cNvPr id="20" name="Rounded Rectangle 19"/>
          <p:cNvSpPr/>
          <p:nvPr/>
        </p:nvSpPr>
        <p:spPr>
          <a:xfrm>
            <a:off x="4251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691640"/>
            <a:ext cx="100584" cy="19659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1856232"/>
            <a:ext cx="2679192" cy="384048"/>
          </a:xfrm>
          <a:prstGeom prst="rect">
            <a:avLst/>
          </a:prstGeom>
          <a:noFill/>
        </p:spPr>
        <p:txBody>
          <a:bodyPr wrap="square" anchor="t" lIns="45720" rIns="45720">
            <a:spAutoFit/>
          </a:bodyPr>
          <a:lstStyle/>
          <a:p>
            <a:pPr algn="l">
              <a:defRPr sz="1900" b="1" i="0">
                <a:solidFill>
                  <a:srgbClr val="1B8A5A"/>
                </a:solidFill>
                <a:latin typeface="Arial"/>
              </a:defRPr>
            </a:pPr>
            <a:r>
              <a:t>TỪ 1 kHz</a:t>
            </a:r>
          </a:p>
        </p:txBody>
      </p:sp>
      <p:sp>
        <p:nvSpPr>
          <p:cNvPr id="23" name="TextBox 22"/>
          <p:cNvSpPr txBox="1"/>
          <p:nvPr/>
        </p:nvSpPr>
        <p:spPr>
          <a:xfrm>
            <a:off x="4471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Cấu hình tốc độ</a:t>
            </a:r>
            <a:br/>
            <a:r>
              <a:t>lấy mẫu</a:t>
            </a:r>
          </a:p>
        </p:txBody>
      </p:sp>
      <p:sp>
        <p:nvSpPr>
          <p:cNvPr id="24" name="Rounded Rectangle 23"/>
          <p:cNvSpPr/>
          <p:nvPr/>
        </p:nvSpPr>
        <p:spPr>
          <a:xfrm>
            <a:off x="7680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0" y="1691640"/>
            <a:ext cx="100584" cy="196596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0416" y="1856232"/>
            <a:ext cx="2679192" cy="384048"/>
          </a:xfrm>
          <a:prstGeom prst="rect">
            <a:avLst/>
          </a:prstGeom>
          <a:noFill/>
        </p:spPr>
        <p:txBody>
          <a:bodyPr wrap="square" anchor="t" lIns="45720" rIns="45720">
            <a:spAutoFit/>
          </a:bodyPr>
          <a:lstStyle/>
          <a:p>
            <a:pPr algn="l">
              <a:defRPr sz="1900" b="1" i="0">
                <a:solidFill>
                  <a:srgbClr val="D27814"/>
                </a:solidFill>
                <a:latin typeface="Arial"/>
              </a:defRPr>
            </a:pPr>
            <a:r>
              <a:t>THU NGOẠI TUYẾN</a:t>
            </a:r>
          </a:p>
        </p:txBody>
      </p:sp>
      <p:sp>
        <p:nvSpPr>
          <p:cNvPr id="27" name="TextBox 26"/>
          <p:cNvSpPr txBox="1"/>
          <p:nvPr/>
        </p:nvSpPr>
        <p:spPr>
          <a:xfrm>
            <a:off x="7900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Buffer → DUMP</a:t>
            </a:r>
            <a:br/>
            <a:r>
              <a:t>khung SLA8</a:t>
            </a:r>
          </a:p>
        </p:txBody>
      </p:sp>
      <p:sp>
        <p:nvSpPr>
          <p:cNvPr id="28" name="Rounded Rectangle 27"/>
          <p:cNvSpPr/>
          <p:nvPr/>
        </p:nvSpPr>
        <p:spPr>
          <a:xfrm>
            <a:off x="11109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109960" y="1691640"/>
            <a:ext cx="100584" cy="196596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29416" y="1856232"/>
            <a:ext cx="2679192" cy="384048"/>
          </a:xfrm>
          <a:prstGeom prst="rect">
            <a:avLst/>
          </a:prstGeom>
          <a:noFill/>
        </p:spPr>
        <p:txBody>
          <a:bodyPr wrap="square" anchor="t" lIns="45720" rIns="45720">
            <a:spAutoFit/>
          </a:bodyPr>
          <a:lstStyle/>
          <a:p>
            <a:pPr algn="l">
              <a:defRPr sz="1900" b="1" i="0">
                <a:solidFill>
                  <a:srgbClr val="1892B8"/>
                </a:solidFill>
                <a:latin typeface="Arial"/>
              </a:defRPr>
            </a:pPr>
            <a:r>
              <a:t>PC GUI</a:t>
            </a:r>
          </a:p>
        </p:txBody>
      </p:sp>
      <p:sp>
        <p:nvSpPr>
          <p:cNvPr id="31" name="TextBox 30"/>
          <p:cNvSpPr txBox="1"/>
          <p:nvPr/>
        </p:nvSpPr>
        <p:spPr>
          <a:xfrm>
            <a:off x="11329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Waveform, đo cạnh,</a:t>
            </a:r>
            <a:br/>
            <a:r>
              <a:t>zoom và cuộn</a:t>
            </a:r>
          </a:p>
        </p:txBody>
      </p:sp>
      <p:sp>
        <p:nvSpPr>
          <p:cNvPr id="32" name="Rounded Rectangle 31"/>
          <p:cNvSpPr/>
          <p:nvPr/>
        </p:nvSpPr>
        <p:spPr>
          <a:xfrm>
            <a:off x="14538960" y="1691640"/>
            <a:ext cx="3063240" cy="19659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538960" y="1691640"/>
            <a:ext cx="100584" cy="196596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758416" y="1856232"/>
            <a:ext cx="2679192" cy="384048"/>
          </a:xfrm>
          <a:prstGeom prst="rect">
            <a:avLst/>
          </a:prstGeom>
          <a:noFill/>
        </p:spPr>
        <p:txBody>
          <a:bodyPr wrap="square" anchor="t" lIns="45720" rIns="45720">
            <a:spAutoFit/>
          </a:bodyPr>
          <a:lstStyle/>
          <a:p>
            <a:pPr algn="l">
              <a:defRPr sz="1900" b="1" i="0">
                <a:solidFill>
                  <a:srgbClr val="C92535"/>
                </a:solidFill>
                <a:latin typeface="Arial"/>
              </a:defRPr>
            </a:pPr>
            <a:r>
              <a:t>3 DECODER</a:t>
            </a:r>
          </a:p>
        </p:txBody>
      </p:sp>
      <p:sp>
        <p:nvSpPr>
          <p:cNvPr id="35" name="TextBox 34"/>
          <p:cNvSpPr txBox="1"/>
          <p:nvPr/>
        </p:nvSpPr>
        <p:spPr>
          <a:xfrm>
            <a:off x="14758416" y="2313432"/>
            <a:ext cx="2679192" cy="1216152"/>
          </a:xfrm>
          <a:prstGeom prst="rect">
            <a:avLst/>
          </a:prstGeom>
          <a:noFill/>
        </p:spPr>
        <p:txBody>
          <a:bodyPr wrap="square" anchor="t" lIns="45720" rIns="45720">
            <a:spAutoFit/>
          </a:bodyPr>
          <a:lstStyle/>
          <a:p>
            <a:pPr algn="l">
              <a:defRPr sz="1600" b="0" i="0">
                <a:solidFill>
                  <a:srgbClr val="1E2A35"/>
                </a:solidFill>
                <a:latin typeface="Arial"/>
              </a:defRPr>
            </a:pPr>
            <a:r>
              <a:t>UART · I2C · SPI</a:t>
            </a:r>
          </a:p>
        </p:txBody>
      </p:sp>
      <p:sp>
        <p:nvSpPr>
          <p:cNvPr id="36" name="TextBox 35"/>
          <p:cNvSpPr txBox="1"/>
          <p:nvPr/>
        </p:nvSpPr>
        <p:spPr>
          <a:xfrm>
            <a:off x="914400" y="4343400"/>
            <a:ext cx="3840480" cy="411480"/>
          </a:xfrm>
          <a:prstGeom prst="rect">
            <a:avLst/>
          </a:prstGeom>
          <a:noFill/>
        </p:spPr>
        <p:txBody>
          <a:bodyPr wrap="square" anchor="t" lIns="45720" rIns="45720">
            <a:spAutoFit/>
          </a:bodyPr>
          <a:lstStyle/>
          <a:p>
            <a:pPr algn="l">
              <a:defRPr sz="2000" b="1" i="0">
                <a:solidFill>
                  <a:srgbClr val="003B70"/>
                </a:solidFill>
                <a:latin typeface="Arial"/>
              </a:defRPr>
            </a:pPr>
            <a:r>
              <a:t>PHẠM VI TRIỂN KHAI</a:t>
            </a:r>
          </a:p>
        </p:txBody>
      </p:sp>
      <p:sp>
        <p:nvSpPr>
          <p:cNvPr id="37" name="TextBox 36"/>
          <p:cNvSpPr txBox="1"/>
          <p:nvPr/>
        </p:nvSpPr>
        <p:spPr>
          <a:xfrm>
            <a:off x="914400" y="4892040"/>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38" name="TextBox 37"/>
          <p:cNvSpPr txBox="1"/>
          <p:nvPr/>
        </p:nvSpPr>
        <p:spPr>
          <a:xfrm>
            <a:off x="1207008" y="4892040"/>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Firmware STM32: TIM2, DMA/ISR, trigger và giao thức lệnh.</a:t>
            </a:r>
          </a:p>
        </p:txBody>
      </p:sp>
      <p:sp>
        <p:nvSpPr>
          <p:cNvPr id="39" name="TextBox 38"/>
          <p:cNvSpPr txBox="1"/>
          <p:nvPr/>
        </p:nvSpPr>
        <p:spPr>
          <a:xfrm>
            <a:off x="914400" y="5605272"/>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40" name="TextBox 39"/>
          <p:cNvSpPr txBox="1"/>
          <p:nvPr/>
        </p:nvSpPr>
        <p:spPr>
          <a:xfrm>
            <a:off x="1207008" y="5605272"/>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Phần mềm PC: kiểm khung, hiển thị tám kênh và giải mã giao thức.</a:t>
            </a:r>
          </a:p>
        </p:txBody>
      </p:sp>
      <p:sp>
        <p:nvSpPr>
          <p:cNvPr id="41" name="TextBox 40"/>
          <p:cNvSpPr txBox="1"/>
          <p:nvPr/>
        </p:nvSpPr>
        <p:spPr>
          <a:xfrm>
            <a:off x="914400" y="6318504"/>
            <a:ext cx="237744" cy="274320"/>
          </a:xfrm>
          <a:prstGeom prst="rect">
            <a:avLst/>
          </a:prstGeom>
          <a:noFill/>
        </p:spPr>
        <p:txBody>
          <a:bodyPr wrap="square" anchor="t" lIns="45720" rIns="45720">
            <a:spAutoFit/>
          </a:bodyPr>
          <a:lstStyle/>
          <a:p>
            <a:pPr algn="l">
              <a:defRPr sz="2100" b="1" i="0">
                <a:solidFill>
                  <a:srgbClr val="C92535"/>
                </a:solidFill>
                <a:latin typeface="Arial"/>
              </a:defRPr>
            </a:pPr>
            <a:r>
              <a:t>•</a:t>
            </a:r>
          </a:p>
        </p:txBody>
      </p:sp>
      <p:sp>
        <p:nvSpPr>
          <p:cNvPr id="42" name="TextBox 41"/>
          <p:cNvSpPr txBox="1"/>
          <p:nvPr/>
        </p:nvSpPr>
        <p:spPr>
          <a:xfrm>
            <a:off x="1207008" y="6318504"/>
            <a:ext cx="15709392" cy="713232"/>
          </a:xfrm>
          <a:prstGeom prst="rect">
            <a:avLst/>
          </a:prstGeom>
          <a:noFill/>
        </p:spPr>
        <p:txBody>
          <a:bodyPr wrap="square" anchor="t" lIns="45720" rIns="45720">
            <a:spAutoFit/>
          </a:bodyPr>
          <a:lstStyle/>
          <a:p>
            <a:pPr algn="l">
              <a:defRPr sz="1800" b="0" i="0">
                <a:solidFill>
                  <a:srgbClr val="1E2A35"/>
                </a:solidFill>
                <a:latin typeface="Arial"/>
              </a:defRPr>
            </a:pPr>
            <a:r>
              <a:t>Arduino UNO tạo tín hiệu Gray, UART, I2C và SPI để kiểm thử từng chế độ.</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KIẾN TRÚC TỔNG THỂ</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04</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828800"/>
            <a:ext cx="3840480" cy="39319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828800"/>
            <a:ext cx="100584" cy="393192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993392"/>
            <a:ext cx="3456432" cy="384048"/>
          </a:xfrm>
          <a:prstGeom prst="rect">
            <a:avLst/>
          </a:prstGeom>
          <a:noFill/>
        </p:spPr>
        <p:txBody>
          <a:bodyPr wrap="square" anchor="t" lIns="45720" rIns="45720">
            <a:spAutoFit/>
          </a:bodyPr>
          <a:lstStyle/>
          <a:p>
            <a:pPr algn="l">
              <a:defRPr sz="2000" b="1" i="0">
                <a:solidFill>
                  <a:srgbClr val="D27814"/>
                </a:solidFill>
                <a:latin typeface="Arial"/>
              </a:defRPr>
            </a:pPr>
            <a:r>
              <a:t>NGUỒN TÍN HIỆU</a:t>
            </a:r>
          </a:p>
        </p:txBody>
      </p:sp>
      <p:sp>
        <p:nvSpPr>
          <p:cNvPr id="19" name="TextBox 18"/>
          <p:cNvSpPr txBox="1"/>
          <p:nvPr/>
        </p:nvSpPr>
        <p:spPr>
          <a:xfrm>
            <a:off x="1042416" y="2450592"/>
            <a:ext cx="3456432" cy="3182112"/>
          </a:xfrm>
          <a:prstGeom prst="rect">
            <a:avLst/>
          </a:prstGeom>
          <a:noFill/>
        </p:spPr>
        <p:txBody>
          <a:bodyPr wrap="square" anchor="t" lIns="45720" rIns="45720">
            <a:spAutoFit/>
          </a:bodyPr>
          <a:lstStyle/>
          <a:p>
            <a:pPr algn="l">
              <a:defRPr sz="1800" b="0" i="0">
                <a:solidFill>
                  <a:srgbClr val="1E2A35"/>
                </a:solidFill>
                <a:latin typeface="Arial"/>
              </a:defRPr>
            </a:pPr>
            <a:r>
              <a:t>Arduino UNO</a:t>
            </a:r>
            <a:br/>
            <a:r>
              <a:t>Gray · UART · I2C · SPI</a:t>
            </a:r>
            <a:br/>
            <a:br/>
            <a:r>
              <a:t>Open-drain, chung GND</a:t>
            </a:r>
          </a:p>
        </p:txBody>
      </p:sp>
      <p:sp>
        <p:nvSpPr>
          <p:cNvPr id="20" name="Right Arrow 19"/>
          <p:cNvSpPr/>
          <p:nvPr/>
        </p:nvSpPr>
        <p:spPr>
          <a:xfrm>
            <a:off x="4800600" y="3429000"/>
            <a:ext cx="914400" cy="45720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806440" y="1508760"/>
            <a:ext cx="5669280" cy="4572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06440" y="1508760"/>
            <a:ext cx="100584" cy="4572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25896" y="1673351"/>
            <a:ext cx="5285232" cy="384048"/>
          </a:xfrm>
          <a:prstGeom prst="rect">
            <a:avLst/>
          </a:prstGeom>
          <a:noFill/>
        </p:spPr>
        <p:txBody>
          <a:bodyPr wrap="square" anchor="t" lIns="45720" rIns="45720">
            <a:spAutoFit/>
          </a:bodyPr>
          <a:lstStyle/>
          <a:p>
            <a:pPr algn="l">
              <a:defRPr sz="2200" b="1" i="0">
                <a:solidFill>
                  <a:srgbClr val="003B70"/>
                </a:solidFill>
                <a:latin typeface="Arial"/>
              </a:defRPr>
            </a:pPr>
            <a:r>
              <a:t>STM32F103C8</a:t>
            </a:r>
          </a:p>
        </p:txBody>
      </p:sp>
      <p:sp>
        <p:nvSpPr>
          <p:cNvPr id="24" name="TextBox 23"/>
          <p:cNvSpPr txBox="1"/>
          <p:nvPr/>
        </p:nvSpPr>
        <p:spPr>
          <a:xfrm>
            <a:off x="6025896" y="2130552"/>
            <a:ext cx="5285232" cy="3822191"/>
          </a:xfrm>
          <a:prstGeom prst="rect">
            <a:avLst/>
          </a:prstGeom>
          <a:noFill/>
        </p:spPr>
        <p:txBody>
          <a:bodyPr wrap="square" anchor="t" lIns="45720" rIns="45720">
            <a:spAutoFit/>
          </a:bodyPr>
          <a:lstStyle/>
          <a:p>
            <a:pPr algn="l">
              <a:defRPr sz="1800" b="0" i="0">
                <a:solidFill>
                  <a:srgbClr val="1E2A35"/>
                </a:solidFill>
                <a:latin typeface="Arial"/>
              </a:defRPr>
            </a:pPr>
            <a:r>
              <a:t>PA0–PA7 → GPIOA IDR</a:t>
            </a:r>
            <a:br/>
            <a:r>
              <a:t>TIM2 tạo nhịp lấy mẫu</a:t>
            </a:r>
            <a:br/>
            <a:r>
              <a:t>DMA hoặc ISR → buffer 13.888 mẫu</a:t>
            </a:r>
            <a:br/>
            <a:r>
              <a:t>SLA8: metadata + payload + checksum</a:t>
            </a:r>
          </a:p>
        </p:txBody>
      </p:sp>
      <p:sp>
        <p:nvSpPr>
          <p:cNvPr id="25" name="Right Arrow 24"/>
          <p:cNvSpPr/>
          <p:nvPr/>
        </p:nvSpPr>
        <p:spPr>
          <a:xfrm>
            <a:off x="11658600" y="3429000"/>
            <a:ext cx="914400" cy="45720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2664440" y="1828800"/>
            <a:ext cx="4754880" cy="39319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664440" y="1828800"/>
            <a:ext cx="100584" cy="393192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83896" y="1993392"/>
            <a:ext cx="4370832" cy="384048"/>
          </a:xfrm>
          <a:prstGeom prst="rect">
            <a:avLst/>
          </a:prstGeom>
          <a:noFill/>
        </p:spPr>
        <p:txBody>
          <a:bodyPr wrap="square" anchor="t" lIns="45720" rIns="45720">
            <a:spAutoFit/>
          </a:bodyPr>
          <a:lstStyle/>
          <a:p>
            <a:pPr algn="l">
              <a:defRPr sz="2000" b="1" i="0">
                <a:solidFill>
                  <a:srgbClr val="1B8A5A"/>
                </a:solidFill>
                <a:latin typeface="Arial"/>
              </a:defRPr>
            </a:pPr>
            <a:r>
              <a:t>MÁY TÍNH</a:t>
            </a:r>
          </a:p>
        </p:txBody>
      </p:sp>
      <p:sp>
        <p:nvSpPr>
          <p:cNvPr id="29" name="TextBox 28"/>
          <p:cNvSpPr txBox="1"/>
          <p:nvPr/>
        </p:nvSpPr>
        <p:spPr>
          <a:xfrm>
            <a:off x="12883896" y="2450592"/>
            <a:ext cx="4370832" cy="3182112"/>
          </a:xfrm>
          <a:prstGeom prst="rect">
            <a:avLst/>
          </a:prstGeom>
          <a:noFill/>
        </p:spPr>
        <p:txBody>
          <a:bodyPr wrap="square" anchor="t" lIns="45720" rIns="45720">
            <a:spAutoFit/>
          </a:bodyPr>
          <a:lstStyle/>
          <a:p>
            <a:pPr algn="l">
              <a:defRPr sz="1800" b="0" i="0">
                <a:solidFill>
                  <a:srgbClr val="1E2A35"/>
                </a:solidFill>
                <a:latin typeface="Arial"/>
              </a:defRPr>
            </a:pPr>
            <a:r>
              <a:t>USART1 · 1 Mbaud</a:t>
            </a:r>
            <a:br/>
            <a:r>
              <a:t>PyQt5 + pyqtgraph</a:t>
            </a:r>
            <a:br/>
            <a:r>
              <a:t>Waveform 8 kênh</a:t>
            </a:r>
            <a:br/>
            <a:r>
              <a:t>UART · I2C · SPI decoder</a:t>
            </a:r>
          </a:p>
        </p:txBody>
      </p:sp>
      <p:sp>
        <p:nvSpPr>
          <p:cNvPr id="30" name="TextBox 29"/>
          <p:cNvSpPr txBox="1"/>
          <p:nvPr/>
        </p:nvSpPr>
        <p:spPr>
          <a:xfrm>
            <a:off x="4297680" y="6629400"/>
            <a:ext cx="9784080" cy="594360"/>
          </a:xfrm>
          <a:prstGeom prst="rect">
            <a:avLst/>
          </a:prstGeom>
          <a:noFill/>
        </p:spPr>
        <p:txBody>
          <a:bodyPr wrap="square" anchor="t" lIns="45720" rIns="45720">
            <a:spAutoFit/>
          </a:bodyPr>
          <a:lstStyle/>
          <a:p>
            <a:pPr algn="ctr">
              <a:defRPr sz="2000" b="1" i="0">
                <a:solidFill>
                  <a:srgbClr val="003B70"/>
                </a:solidFill>
                <a:latin typeface="Arial"/>
              </a:defRPr>
            </a:pPr>
            <a:r>
              <a:t>Một mẫu = một lần đọc đồng thời 8 bit thấp của GPIOA</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PHẦN CỨNG VÀ ĐẤU NỐI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05</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600200"/>
            <a:ext cx="100584" cy="521208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764792"/>
            <a:ext cx="4828032" cy="384048"/>
          </a:xfrm>
          <a:prstGeom prst="rect">
            <a:avLst/>
          </a:prstGeom>
          <a:noFill/>
        </p:spPr>
        <p:txBody>
          <a:bodyPr wrap="square" anchor="t" lIns="45720" rIns="45720">
            <a:spAutoFit/>
          </a:bodyPr>
          <a:lstStyle/>
          <a:p>
            <a:pPr algn="l">
              <a:defRPr sz="2200" b="1" i="0">
                <a:solidFill>
                  <a:srgbClr val="003B70"/>
                </a:solidFill>
                <a:latin typeface="Arial"/>
              </a:defRPr>
            </a:pPr>
            <a:r>
              <a:t>STM32F103C8</a:t>
            </a:r>
          </a:p>
        </p:txBody>
      </p:sp>
      <p:sp>
        <p:nvSpPr>
          <p:cNvPr id="19" name="TextBox 18"/>
          <p:cNvSpPr txBox="1"/>
          <p:nvPr/>
        </p:nvSpPr>
        <p:spPr>
          <a:xfrm>
            <a:off x="1042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PA0–PA7: CH0–CH7</a:t>
            </a:r>
            <a:br/>
            <a:r>
              <a:t>• PA9/PA10: USART1</a:t>
            </a:r>
            <a:br/>
            <a:r>
              <a:t>• Timer clock: 72 MHz</a:t>
            </a:r>
            <a:br/>
            <a:r>
              <a:t>• Logic: 3,3 V</a:t>
            </a:r>
            <a:br/>
            <a:r>
              <a:t>• Buffer: 13.888 byte</a:t>
            </a:r>
          </a:p>
        </p:txBody>
      </p:sp>
      <p:sp>
        <p:nvSpPr>
          <p:cNvPr id="20" name="Rounded Rectangle 19"/>
          <p:cNvSpPr/>
          <p:nvPr/>
        </p:nvSpPr>
        <p:spPr>
          <a:xfrm>
            <a:off x="6537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37960" y="1600200"/>
            <a:ext cx="100584" cy="521208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7416" y="1764792"/>
            <a:ext cx="4828032" cy="384048"/>
          </a:xfrm>
          <a:prstGeom prst="rect">
            <a:avLst/>
          </a:prstGeom>
          <a:noFill/>
        </p:spPr>
        <p:txBody>
          <a:bodyPr wrap="square" anchor="t" lIns="45720" rIns="45720">
            <a:spAutoFit/>
          </a:bodyPr>
          <a:lstStyle/>
          <a:p>
            <a:pPr algn="l">
              <a:defRPr sz="2200" b="1" i="0">
                <a:solidFill>
                  <a:srgbClr val="D27814"/>
                </a:solidFill>
                <a:latin typeface="Arial"/>
              </a:defRPr>
            </a:pPr>
            <a:r>
              <a:t>ARDUINO UNO</a:t>
            </a:r>
          </a:p>
        </p:txBody>
      </p:sp>
      <p:sp>
        <p:nvSpPr>
          <p:cNvPr id="23" name="TextBox 22"/>
          <p:cNvSpPr txBox="1"/>
          <p:nvPr/>
        </p:nvSpPr>
        <p:spPr>
          <a:xfrm>
            <a:off x="6757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D2–D9 → PA0–PA7</a:t>
            </a:r>
            <a:br/>
            <a:r>
              <a:t>• Tạo mẫu Gray 8 bit</a:t>
            </a:r>
            <a:br/>
            <a:r>
              <a:t>• Phát UART/I2C/SPI riêng</a:t>
            </a:r>
            <a:br/>
            <a:r>
              <a:t>• Ngõ ra open-drain</a:t>
            </a:r>
            <a:br/>
            <a:r>
              <a:t>• Dùng pull-up 3,3 V</a:t>
            </a:r>
          </a:p>
        </p:txBody>
      </p:sp>
      <p:sp>
        <p:nvSpPr>
          <p:cNvPr id="24" name="Rounded Rectangle 23"/>
          <p:cNvSpPr/>
          <p:nvPr/>
        </p:nvSpPr>
        <p:spPr>
          <a:xfrm>
            <a:off x="12252960" y="1600200"/>
            <a:ext cx="5212080" cy="52120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252960" y="1600200"/>
            <a:ext cx="100584" cy="52120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2416" y="1764792"/>
            <a:ext cx="4828032" cy="384048"/>
          </a:xfrm>
          <a:prstGeom prst="rect">
            <a:avLst/>
          </a:prstGeom>
          <a:noFill/>
        </p:spPr>
        <p:txBody>
          <a:bodyPr wrap="square" anchor="t" lIns="45720" rIns="45720">
            <a:spAutoFit/>
          </a:bodyPr>
          <a:lstStyle/>
          <a:p>
            <a:pPr algn="l">
              <a:defRPr sz="2200" b="1" i="0">
                <a:solidFill>
                  <a:srgbClr val="C92535"/>
                </a:solidFill>
                <a:latin typeface="Arial"/>
              </a:defRPr>
            </a:pPr>
            <a:r>
              <a:t>NGUYÊN TẮC AN TOÀN</a:t>
            </a:r>
          </a:p>
        </p:txBody>
      </p:sp>
      <p:sp>
        <p:nvSpPr>
          <p:cNvPr id="27" name="TextBox 26"/>
          <p:cNvSpPr txBox="1"/>
          <p:nvPr/>
        </p:nvSpPr>
        <p:spPr>
          <a:xfrm>
            <a:off x="12472416" y="2221992"/>
            <a:ext cx="4828032" cy="4462272"/>
          </a:xfrm>
          <a:prstGeom prst="rect">
            <a:avLst/>
          </a:prstGeom>
          <a:noFill/>
        </p:spPr>
        <p:txBody>
          <a:bodyPr wrap="square" anchor="t" lIns="45720" rIns="45720">
            <a:spAutoFit/>
          </a:bodyPr>
          <a:lstStyle/>
          <a:p>
            <a:pPr algn="l">
              <a:defRPr sz="1800" b="0" i="0">
                <a:solidFill>
                  <a:srgbClr val="1E2A35"/>
                </a:solidFill>
                <a:latin typeface="Arial"/>
              </a:defRPr>
            </a:pPr>
            <a:r>
              <a:t>• Nối chung GND</a:t>
            </a:r>
            <a:br/>
            <a:r>
              <a:t>• Không đưa 5 V trực tiếp</a:t>
            </a:r>
            <a:br/>
            <a:r>
              <a:t>• HIGH nhờ pull-up 3,3 V</a:t>
            </a:r>
            <a:br/>
            <a:r>
              <a:t>• Kiểm tra mức trước khi test</a:t>
            </a:r>
            <a:br/>
            <a:r>
              <a:t>• Không suy diễn mạch bảo vệ</a:t>
            </a:r>
          </a:p>
        </p:txBody>
      </p:sp>
      <p:sp>
        <p:nvSpPr>
          <p:cNvPr id="28" name="TextBox 27"/>
          <p:cNvSpPr txBox="1"/>
          <p:nvPr/>
        </p:nvSpPr>
        <p:spPr>
          <a:xfrm>
            <a:off x="1920240" y="7360920"/>
            <a:ext cx="14447520" cy="502920"/>
          </a:xfrm>
          <a:prstGeom prst="rect">
            <a:avLst/>
          </a:prstGeom>
          <a:noFill/>
        </p:spPr>
        <p:txBody>
          <a:bodyPr wrap="square" anchor="t" lIns="45720" rIns="45720">
            <a:spAutoFit/>
          </a:bodyPr>
          <a:lstStyle/>
          <a:p>
            <a:pPr algn="ctr">
              <a:defRPr sz="1800" b="1" i="0">
                <a:solidFill>
                  <a:srgbClr val="C92535"/>
                </a:solidFill>
                <a:latin typeface="Arial"/>
              </a:defRPr>
            </a:pPr>
            <a:r>
              <a:t>Không khẳng định có khối bảo vệ đầu vào khi chưa có sơ đồ nguyên lý được kiểm chứng.</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CƠ CHẾ LẤY MẪU DMA VÀ ISR</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06</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914400" y="1508760"/>
            <a:ext cx="7772400" cy="411480"/>
          </a:xfrm>
          <a:prstGeom prst="rect">
            <a:avLst/>
          </a:prstGeom>
          <a:noFill/>
        </p:spPr>
        <p:txBody>
          <a:bodyPr wrap="square" anchor="t" lIns="45720" rIns="45720">
            <a:spAutoFit/>
          </a:bodyPr>
          <a:lstStyle/>
          <a:p>
            <a:pPr algn="l">
              <a:defRPr sz="2100" b="1" i="0">
                <a:solidFill>
                  <a:srgbClr val="003B70"/>
                </a:solidFill>
                <a:latin typeface="Arial"/>
              </a:defRPr>
            </a:pPr>
            <a:r>
              <a:t>TRIGGER TỨC THỜI</a:t>
            </a:r>
          </a:p>
        </p:txBody>
      </p:sp>
      <p:sp>
        <p:nvSpPr>
          <p:cNvPr id="17" name="Rounded Rectangle 16"/>
          <p:cNvSpPr/>
          <p:nvPr/>
        </p:nvSpPr>
        <p:spPr>
          <a:xfrm>
            <a:off x="91440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2057400"/>
            <a:ext cx="100584" cy="132588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33856" y="2221992"/>
            <a:ext cx="2450592" cy="384048"/>
          </a:xfrm>
          <a:prstGeom prst="rect">
            <a:avLst/>
          </a:prstGeom>
          <a:noFill/>
        </p:spPr>
        <p:txBody>
          <a:bodyPr wrap="square" anchor="t" lIns="45720" rIns="45720">
            <a:spAutoFit/>
          </a:bodyPr>
          <a:lstStyle/>
          <a:p>
            <a:pPr algn="l">
              <a:defRPr sz="1800" b="1" i="0">
                <a:solidFill>
                  <a:srgbClr val="1C6EA4"/>
                </a:solidFill>
                <a:latin typeface="Arial"/>
              </a:defRPr>
            </a:pPr>
            <a:r>
              <a:t>TIM2 UPDATE</a:t>
            </a:r>
          </a:p>
        </p:txBody>
      </p:sp>
      <p:sp>
        <p:nvSpPr>
          <p:cNvPr id="20" name="TextBox 19"/>
          <p:cNvSpPr txBox="1"/>
          <p:nvPr/>
        </p:nvSpPr>
        <p:spPr>
          <a:xfrm>
            <a:off x="113385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Nhịp lấy mẫu</a:t>
            </a:r>
          </a:p>
        </p:txBody>
      </p:sp>
      <p:sp>
        <p:nvSpPr>
          <p:cNvPr id="21" name="Right Arrow 20"/>
          <p:cNvSpPr/>
          <p:nvPr/>
        </p:nvSpPr>
        <p:spPr>
          <a:xfrm>
            <a:off x="3886200" y="25146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70916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2057400"/>
            <a:ext cx="100584" cy="132588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28616" y="2221992"/>
            <a:ext cx="2450592" cy="384048"/>
          </a:xfrm>
          <a:prstGeom prst="rect">
            <a:avLst/>
          </a:prstGeom>
          <a:noFill/>
        </p:spPr>
        <p:txBody>
          <a:bodyPr wrap="square" anchor="t" lIns="45720" rIns="45720">
            <a:spAutoFit/>
          </a:bodyPr>
          <a:lstStyle/>
          <a:p>
            <a:pPr algn="l">
              <a:defRPr sz="1800" b="1" i="0">
                <a:solidFill>
                  <a:srgbClr val="1B8A5A"/>
                </a:solidFill>
                <a:latin typeface="Arial"/>
              </a:defRPr>
            </a:pPr>
            <a:r>
              <a:t>DMA1 CH2</a:t>
            </a:r>
          </a:p>
        </p:txBody>
      </p:sp>
      <p:sp>
        <p:nvSpPr>
          <p:cNvPr id="25" name="TextBox 24"/>
          <p:cNvSpPr txBox="1"/>
          <p:nvPr/>
        </p:nvSpPr>
        <p:spPr>
          <a:xfrm>
            <a:off x="492861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GPIOA IDR → RAM</a:t>
            </a:r>
          </a:p>
        </p:txBody>
      </p:sp>
      <p:sp>
        <p:nvSpPr>
          <p:cNvPr id="26" name="Right Arrow 25"/>
          <p:cNvSpPr/>
          <p:nvPr/>
        </p:nvSpPr>
        <p:spPr>
          <a:xfrm>
            <a:off x="7680960" y="25146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03920" y="20574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503920" y="2057400"/>
            <a:ext cx="100584" cy="13258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23376" y="2221992"/>
            <a:ext cx="2450592" cy="384048"/>
          </a:xfrm>
          <a:prstGeom prst="rect">
            <a:avLst/>
          </a:prstGeom>
          <a:noFill/>
        </p:spPr>
        <p:txBody>
          <a:bodyPr wrap="square" anchor="t" lIns="45720" rIns="45720">
            <a:spAutoFit/>
          </a:bodyPr>
          <a:lstStyle/>
          <a:p>
            <a:pPr algn="l">
              <a:defRPr sz="1800" b="1" i="0">
                <a:solidFill>
                  <a:srgbClr val="C92535"/>
                </a:solidFill>
                <a:latin typeface="Arial"/>
              </a:defRPr>
            </a:pPr>
            <a:r>
              <a:t>BUFFER ĐỦ</a:t>
            </a:r>
          </a:p>
        </p:txBody>
      </p:sp>
      <p:sp>
        <p:nvSpPr>
          <p:cNvPr id="30" name="TextBox 29"/>
          <p:cNvSpPr txBox="1"/>
          <p:nvPr/>
        </p:nvSpPr>
        <p:spPr>
          <a:xfrm>
            <a:off x="8723376" y="26791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Phát EVENT</a:t>
            </a:r>
          </a:p>
        </p:txBody>
      </p:sp>
      <p:sp>
        <p:nvSpPr>
          <p:cNvPr id="31" name="TextBox 30"/>
          <p:cNvSpPr txBox="1"/>
          <p:nvPr/>
        </p:nvSpPr>
        <p:spPr>
          <a:xfrm>
            <a:off x="914400" y="4251960"/>
            <a:ext cx="7772400" cy="411480"/>
          </a:xfrm>
          <a:prstGeom prst="rect">
            <a:avLst/>
          </a:prstGeom>
          <a:noFill/>
        </p:spPr>
        <p:txBody>
          <a:bodyPr wrap="square" anchor="t" lIns="45720" rIns="45720">
            <a:spAutoFit/>
          </a:bodyPr>
          <a:lstStyle/>
          <a:p>
            <a:pPr algn="l">
              <a:defRPr sz="2100" b="1" i="0">
                <a:solidFill>
                  <a:srgbClr val="003B70"/>
                </a:solidFill>
                <a:latin typeface="Arial"/>
              </a:defRPr>
            </a:pPr>
            <a:r>
              <a:t>TRIGGER CẠNH / MẪU</a:t>
            </a:r>
          </a:p>
        </p:txBody>
      </p:sp>
      <p:sp>
        <p:nvSpPr>
          <p:cNvPr id="32" name="Rounded Rectangle 31"/>
          <p:cNvSpPr/>
          <p:nvPr/>
        </p:nvSpPr>
        <p:spPr>
          <a:xfrm>
            <a:off x="91440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400" y="4800600"/>
            <a:ext cx="100584" cy="132588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33856" y="4965192"/>
            <a:ext cx="2450592" cy="384048"/>
          </a:xfrm>
          <a:prstGeom prst="rect">
            <a:avLst/>
          </a:prstGeom>
          <a:noFill/>
        </p:spPr>
        <p:txBody>
          <a:bodyPr wrap="square" anchor="t" lIns="45720" rIns="45720">
            <a:spAutoFit/>
          </a:bodyPr>
          <a:lstStyle/>
          <a:p>
            <a:pPr algn="l">
              <a:defRPr sz="1800" b="1" i="0">
                <a:solidFill>
                  <a:srgbClr val="D27814"/>
                </a:solidFill>
                <a:latin typeface="Arial"/>
              </a:defRPr>
            </a:pPr>
            <a:r>
              <a:t>TIM2 ISR</a:t>
            </a:r>
          </a:p>
        </p:txBody>
      </p:sp>
      <p:sp>
        <p:nvSpPr>
          <p:cNvPr id="35" name="TextBox 34"/>
          <p:cNvSpPr txBox="1"/>
          <p:nvPr/>
        </p:nvSpPr>
        <p:spPr>
          <a:xfrm>
            <a:off x="113385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Đọc và kiểm điều kiện</a:t>
            </a:r>
          </a:p>
        </p:txBody>
      </p:sp>
      <p:sp>
        <p:nvSpPr>
          <p:cNvPr id="36" name="Right Arrow 35"/>
          <p:cNvSpPr/>
          <p:nvPr/>
        </p:nvSpPr>
        <p:spPr>
          <a:xfrm>
            <a:off x="3886200" y="52578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70916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09160" y="4800600"/>
            <a:ext cx="100584" cy="132588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28616" y="4965192"/>
            <a:ext cx="2450592" cy="384048"/>
          </a:xfrm>
          <a:prstGeom prst="rect">
            <a:avLst/>
          </a:prstGeom>
          <a:noFill/>
        </p:spPr>
        <p:txBody>
          <a:bodyPr wrap="square" anchor="t" lIns="45720" rIns="45720">
            <a:spAutoFit/>
          </a:bodyPr>
          <a:lstStyle/>
          <a:p>
            <a:pPr algn="l">
              <a:defRPr sz="1800" b="1" i="0">
                <a:solidFill>
                  <a:srgbClr val="1892B8"/>
                </a:solidFill>
                <a:latin typeface="Arial"/>
              </a:defRPr>
            </a:pPr>
            <a:r>
              <a:t>PRE-TRIGGER</a:t>
            </a:r>
          </a:p>
        </p:txBody>
      </p:sp>
      <p:sp>
        <p:nvSpPr>
          <p:cNvPr id="40" name="TextBox 39"/>
          <p:cNvSpPr txBox="1"/>
          <p:nvPr/>
        </p:nvSpPr>
        <p:spPr>
          <a:xfrm>
            <a:off x="492861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Bộ đệm vòng</a:t>
            </a:r>
          </a:p>
        </p:txBody>
      </p:sp>
      <p:sp>
        <p:nvSpPr>
          <p:cNvPr id="41" name="Right Arrow 40"/>
          <p:cNvSpPr/>
          <p:nvPr/>
        </p:nvSpPr>
        <p:spPr>
          <a:xfrm>
            <a:off x="7680960" y="5257800"/>
            <a:ext cx="731520" cy="365760"/>
          </a:xfrm>
          <a:prstGeom prst="rightArrow">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503920" y="4800600"/>
            <a:ext cx="2834640" cy="132588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503920" y="4800600"/>
            <a:ext cx="100584" cy="132588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723376" y="4965192"/>
            <a:ext cx="2450592" cy="384048"/>
          </a:xfrm>
          <a:prstGeom prst="rect">
            <a:avLst/>
          </a:prstGeom>
          <a:noFill/>
        </p:spPr>
        <p:txBody>
          <a:bodyPr wrap="square" anchor="t" lIns="45720" rIns="45720">
            <a:spAutoFit/>
          </a:bodyPr>
          <a:lstStyle/>
          <a:p>
            <a:pPr algn="l">
              <a:defRPr sz="1800" b="1" i="0">
                <a:solidFill>
                  <a:srgbClr val="C92535"/>
                </a:solidFill>
                <a:latin typeface="Arial"/>
              </a:defRPr>
            </a:pPr>
            <a:r>
              <a:t>POST-TRIGGER</a:t>
            </a:r>
          </a:p>
        </p:txBody>
      </p:sp>
      <p:sp>
        <p:nvSpPr>
          <p:cNvPr id="45" name="TextBox 44"/>
          <p:cNvSpPr txBox="1"/>
          <p:nvPr/>
        </p:nvSpPr>
        <p:spPr>
          <a:xfrm>
            <a:off x="8723376" y="5422392"/>
            <a:ext cx="2450592" cy="576072"/>
          </a:xfrm>
          <a:prstGeom prst="rect">
            <a:avLst/>
          </a:prstGeom>
          <a:noFill/>
        </p:spPr>
        <p:txBody>
          <a:bodyPr wrap="square" anchor="t" lIns="45720" rIns="45720">
            <a:spAutoFit/>
          </a:bodyPr>
          <a:lstStyle/>
          <a:p>
            <a:pPr algn="l">
              <a:defRPr sz="1500" b="0" i="0">
                <a:solidFill>
                  <a:srgbClr val="1E2A35"/>
                </a:solidFill>
                <a:latin typeface="Arial"/>
              </a:defRPr>
            </a:pPr>
            <a:r>
              <a:t>Hoàn thành capture</a:t>
            </a:r>
          </a:p>
        </p:txBody>
      </p:sp>
      <p:sp>
        <p:nvSpPr>
          <p:cNvPr id="46" name="Rounded Rectangle 45"/>
          <p:cNvSpPr/>
          <p:nvPr/>
        </p:nvSpPr>
        <p:spPr>
          <a:xfrm>
            <a:off x="12801600" y="1965960"/>
            <a:ext cx="40233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2938760" y="2112264"/>
            <a:ext cx="3749040" cy="566928"/>
          </a:xfrm>
          <a:prstGeom prst="rect">
            <a:avLst/>
          </a:prstGeom>
          <a:noFill/>
        </p:spPr>
        <p:txBody>
          <a:bodyPr wrap="square" anchor="t" lIns="45720" rIns="45720">
            <a:spAutoFit/>
          </a:bodyPr>
          <a:lstStyle/>
          <a:p>
            <a:pPr algn="ctr">
              <a:defRPr sz="2700" b="1" i="0">
                <a:solidFill>
                  <a:srgbClr val="003B70"/>
                </a:solidFill>
                <a:latin typeface="Arial"/>
              </a:defRPr>
            </a:pPr>
            <a:r>
              <a:t>6,545 MS/s</a:t>
            </a:r>
          </a:p>
        </p:txBody>
      </p:sp>
      <p:sp>
        <p:nvSpPr>
          <p:cNvPr id="48" name="TextBox 47"/>
          <p:cNvSpPr txBox="1"/>
          <p:nvPr/>
        </p:nvSpPr>
        <p:spPr>
          <a:xfrm>
            <a:off x="12966192" y="2715768"/>
            <a:ext cx="3694176" cy="731520"/>
          </a:xfrm>
          <a:prstGeom prst="rect">
            <a:avLst/>
          </a:prstGeom>
          <a:noFill/>
        </p:spPr>
        <p:txBody>
          <a:bodyPr wrap="square" anchor="t" lIns="45720" rIns="45720">
            <a:spAutoFit/>
          </a:bodyPr>
          <a:lstStyle/>
          <a:p>
            <a:pPr algn="ctr">
              <a:defRPr sz="1300" b="0" i="0">
                <a:solidFill>
                  <a:srgbClr val="5D6B78"/>
                </a:solidFill>
                <a:latin typeface="Arial"/>
              </a:defRPr>
            </a:pPr>
            <a:r>
              <a:t>Trần DMA được kiểm chứng</a:t>
            </a:r>
          </a:p>
        </p:txBody>
      </p:sp>
      <p:sp>
        <p:nvSpPr>
          <p:cNvPr id="49" name="Rounded Rectangle 48"/>
          <p:cNvSpPr/>
          <p:nvPr/>
        </p:nvSpPr>
        <p:spPr>
          <a:xfrm>
            <a:off x="12801600" y="4160520"/>
            <a:ext cx="40233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938760" y="4306824"/>
            <a:ext cx="3749040" cy="566928"/>
          </a:xfrm>
          <a:prstGeom prst="rect">
            <a:avLst/>
          </a:prstGeom>
          <a:noFill/>
        </p:spPr>
        <p:txBody>
          <a:bodyPr wrap="square" anchor="t" lIns="45720" rIns="45720">
            <a:spAutoFit/>
          </a:bodyPr>
          <a:lstStyle/>
          <a:p>
            <a:pPr algn="ctr">
              <a:defRPr sz="2700" b="1" i="0">
                <a:solidFill>
                  <a:srgbClr val="D27814"/>
                </a:solidFill>
                <a:latin typeface="Arial"/>
              </a:defRPr>
            </a:pPr>
            <a:r>
              <a:t>400 kS/s</a:t>
            </a:r>
          </a:p>
        </p:txBody>
      </p:sp>
      <p:sp>
        <p:nvSpPr>
          <p:cNvPr id="51" name="TextBox 50"/>
          <p:cNvSpPr txBox="1"/>
          <p:nvPr/>
        </p:nvSpPr>
        <p:spPr>
          <a:xfrm>
            <a:off x="12966192" y="4910328"/>
            <a:ext cx="3694176" cy="731520"/>
          </a:xfrm>
          <a:prstGeom prst="rect">
            <a:avLst/>
          </a:prstGeom>
          <a:noFill/>
        </p:spPr>
        <p:txBody>
          <a:bodyPr wrap="square" anchor="t" lIns="45720" rIns="45720">
            <a:spAutoFit/>
          </a:bodyPr>
          <a:lstStyle/>
          <a:p>
            <a:pPr algn="ctr">
              <a:defRPr sz="1300" b="0" i="0">
                <a:solidFill>
                  <a:srgbClr val="5D6B78"/>
                </a:solidFill>
                <a:latin typeface="Arial"/>
              </a:defRPr>
            </a:pPr>
            <a:r>
              <a:t>Trần ISR được kiểm chứng</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FIRMWARE VÀ KHUNG DỮ LIỆU SLA8</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07</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508760"/>
            <a:ext cx="100584" cy="114300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73351"/>
            <a:ext cx="2359152" cy="384048"/>
          </a:xfrm>
          <a:prstGeom prst="rect">
            <a:avLst/>
          </a:prstGeom>
          <a:noFill/>
        </p:spPr>
        <p:txBody>
          <a:bodyPr wrap="square" anchor="t" lIns="45720" rIns="45720">
            <a:spAutoFit/>
          </a:bodyPr>
          <a:lstStyle/>
          <a:p>
            <a:pPr algn="l">
              <a:defRPr sz="2000" b="1" i="0">
                <a:solidFill>
                  <a:srgbClr val="1C6EA4"/>
                </a:solidFill>
                <a:latin typeface="Arial"/>
              </a:defRPr>
            </a:pPr>
            <a:r>
              <a:t>CFG</a:t>
            </a:r>
          </a:p>
        </p:txBody>
      </p:sp>
      <p:sp>
        <p:nvSpPr>
          <p:cNvPr id="19" name="Right Arrow 18"/>
          <p:cNvSpPr/>
          <p:nvPr/>
        </p:nvSpPr>
        <p:spPr>
          <a:xfrm>
            <a:off x="3657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51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51960" y="1508760"/>
            <a:ext cx="100584" cy="1143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1416" y="1673351"/>
            <a:ext cx="2359152" cy="384048"/>
          </a:xfrm>
          <a:prstGeom prst="rect">
            <a:avLst/>
          </a:prstGeom>
          <a:noFill/>
        </p:spPr>
        <p:txBody>
          <a:bodyPr wrap="square" anchor="t" lIns="45720" rIns="45720">
            <a:spAutoFit/>
          </a:bodyPr>
          <a:lstStyle/>
          <a:p>
            <a:pPr algn="l">
              <a:defRPr sz="2000" b="1" i="0">
                <a:solidFill>
                  <a:srgbClr val="003B70"/>
                </a:solidFill>
                <a:latin typeface="Arial"/>
              </a:defRPr>
            </a:pPr>
            <a:r>
              <a:t>ARM</a:t>
            </a:r>
          </a:p>
        </p:txBody>
      </p:sp>
      <p:sp>
        <p:nvSpPr>
          <p:cNvPr id="23" name="Right Arrow 22"/>
          <p:cNvSpPr/>
          <p:nvPr/>
        </p:nvSpPr>
        <p:spPr>
          <a:xfrm>
            <a:off x="7086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680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680960" y="1508760"/>
            <a:ext cx="100584" cy="114300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900416" y="1673351"/>
            <a:ext cx="2359152" cy="384048"/>
          </a:xfrm>
          <a:prstGeom prst="rect">
            <a:avLst/>
          </a:prstGeom>
          <a:noFill/>
        </p:spPr>
        <p:txBody>
          <a:bodyPr wrap="square" anchor="t" lIns="45720" rIns="45720">
            <a:spAutoFit/>
          </a:bodyPr>
          <a:lstStyle/>
          <a:p>
            <a:pPr algn="l">
              <a:defRPr sz="2000" b="1" i="0">
                <a:solidFill>
                  <a:srgbClr val="D27814"/>
                </a:solidFill>
                <a:latin typeface="Arial"/>
              </a:defRPr>
            </a:pPr>
            <a:r>
              <a:t>CAPTURE</a:t>
            </a:r>
          </a:p>
        </p:txBody>
      </p:sp>
      <p:sp>
        <p:nvSpPr>
          <p:cNvPr id="27" name="Right Arrow 26"/>
          <p:cNvSpPr/>
          <p:nvPr/>
        </p:nvSpPr>
        <p:spPr>
          <a:xfrm>
            <a:off x="10515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109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109960" y="1508760"/>
            <a:ext cx="100584" cy="11430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329416" y="1673351"/>
            <a:ext cx="2359152" cy="384048"/>
          </a:xfrm>
          <a:prstGeom prst="rect">
            <a:avLst/>
          </a:prstGeom>
          <a:noFill/>
        </p:spPr>
        <p:txBody>
          <a:bodyPr wrap="square" anchor="t" lIns="45720" rIns="45720">
            <a:spAutoFit/>
          </a:bodyPr>
          <a:lstStyle/>
          <a:p>
            <a:pPr algn="l">
              <a:defRPr sz="2000" b="1" i="0">
                <a:solidFill>
                  <a:srgbClr val="C92535"/>
                </a:solidFill>
                <a:latin typeface="Arial"/>
              </a:defRPr>
            </a:pPr>
            <a:r>
              <a:t>EVENT</a:t>
            </a:r>
          </a:p>
        </p:txBody>
      </p:sp>
      <p:sp>
        <p:nvSpPr>
          <p:cNvPr id="31" name="Right Arrow 30"/>
          <p:cNvSpPr/>
          <p:nvPr/>
        </p:nvSpPr>
        <p:spPr>
          <a:xfrm>
            <a:off x="13944600" y="1874519"/>
            <a:ext cx="457200" cy="27432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4538960" y="1508760"/>
            <a:ext cx="2743200" cy="11430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4538960" y="1508760"/>
            <a:ext cx="100584" cy="11430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4758416" y="1673351"/>
            <a:ext cx="2359152" cy="384048"/>
          </a:xfrm>
          <a:prstGeom prst="rect">
            <a:avLst/>
          </a:prstGeom>
          <a:noFill/>
        </p:spPr>
        <p:txBody>
          <a:bodyPr wrap="square" anchor="t" lIns="45720" rIns="45720">
            <a:spAutoFit/>
          </a:bodyPr>
          <a:lstStyle/>
          <a:p>
            <a:pPr algn="l">
              <a:defRPr sz="2000" b="1" i="0">
                <a:solidFill>
                  <a:srgbClr val="1B8A5A"/>
                </a:solidFill>
                <a:latin typeface="Arial"/>
              </a:defRPr>
            </a:pPr>
            <a:r>
              <a:t>DUMP</a:t>
            </a:r>
          </a:p>
        </p:txBody>
      </p:sp>
      <p:sp>
        <p:nvSpPr>
          <p:cNvPr id="35" name="TextBox 34"/>
          <p:cNvSpPr txBox="1"/>
          <p:nvPr/>
        </p:nvSpPr>
        <p:spPr>
          <a:xfrm>
            <a:off x="868680" y="3337560"/>
            <a:ext cx="2743200" cy="411480"/>
          </a:xfrm>
          <a:prstGeom prst="rect">
            <a:avLst/>
          </a:prstGeom>
          <a:noFill/>
        </p:spPr>
        <p:txBody>
          <a:bodyPr wrap="square" anchor="t" lIns="45720" rIns="45720">
            <a:spAutoFit/>
          </a:bodyPr>
          <a:lstStyle/>
          <a:p>
            <a:pPr algn="l">
              <a:defRPr sz="2200" b="1" i="0">
                <a:solidFill>
                  <a:srgbClr val="003B70"/>
                </a:solidFill>
                <a:latin typeface="Arial"/>
              </a:defRPr>
            </a:pPr>
            <a:r>
              <a:t>KHUNG SLA8</a:t>
            </a:r>
          </a:p>
        </p:txBody>
      </p:sp>
      <p:sp>
        <p:nvSpPr>
          <p:cNvPr id="36" name="Rectangle 35"/>
          <p:cNvSpPr/>
          <p:nvPr/>
        </p:nvSpPr>
        <p:spPr>
          <a:xfrm>
            <a:off x="868680" y="3977639"/>
            <a:ext cx="3657600" cy="11430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41832" y="4279392"/>
            <a:ext cx="3511296" cy="384048"/>
          </a:xfrm>
          <a:prstGeom prst="rect">
            <a:avLst/>
          </a:prstGeom>
          <a:noFill/>
        </p:spPr>
        <p:txBody>
          <a:bodyPr wrap="square" anchor="t" lIns="45720" rIns="45720">
            <a:spAutoFit/>
          </a:bodyPr>
          <a:lstStyle/>
          <a:p>
            <a:pPr algn="ctr">
              <a:defRPr sz="1700" b="1" i="0">
                <a:solidFill>
                  <a:srgbClr val="FFFFFF"/>
                </a:solidFill>
                <a:latin typeface="Arial"/>
              </a:defRPr>
            </a:pPr>
            <a:r>
              <a:t>HEADER 48 B</a:t>
            </a:r>
          </a:p>
        </p:txBody>
      </p:sp>
      <p:sp>
        <p:nvSpPr>
          <p:cNvPr id="38" name="Rectangle 37"/>
          <p:cNvSpPr/>
          <p:nvPr/>
        </p:nvSpPr>
        <p:spPr>
          <a:xfrm>
            <a:off x="4526280" y="3977639"/>
            <a:ext cx="2377440" cy="114300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99432" y="4279392"/>
            <a:ext cx="2231136" cy="384048"/>
          </a:xfrm>
          <a:prstGeom prst="rect">
            <a:avLst/>
          </a:prstGeom>
          <a:noFill/>
        </p:spPr>
        <p:txBody>
          <a:bodyPr wrap="square" anchor="t" lIns="45720" rIns="45720">
            <a:spAutoFit/>
          </a:bodyPr>
          <a:lstStyle/>
          <a:p>
            <a:pPr algn="ctr">
              <a:defRPr sz="1700" b="1" i="0">
                <a:solidFill>
                  <a:srgbClr val="FFFFFF"/>
                </a:solidFill>
                <a:latin typeface="Arial"/>
              </a:defRPr>
            </a:pPr>
            <a:r>
              <a:t>METADATA</a:t>
            </a:r>
          </a:p>
        </p:txBody>
      </p:sp>
      <p:sp>
        <p:nvSpPr>
          <p:cNvPr id="40" name="Rectangle 39"/>
          <p:cNvSpPr/>
          <p:nvPr/>
        </p:nvSpPr>
        <p:spPr>
          <a:xfrm>
            <a:off x="6903720" y="3977639"/>
            <a:ext cx="6858000" cy="11430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76872" y="4279392"/>
            <a:ext cx="6711696" cy="384048"/>
          </a:xfrm>
          <a:prstGeom prst="rect">
            <a:avLst/>
          </a:prstGeom>
          <a:noFill/>
        </p:spPr>
        <p:txBody>
          <a:bodyPr wrap="square" anchor="t" lIns="45720" rIns="45720">
            <a:spAutoFit/>
          </a:bodyPr>
          <a:lstStyle/>
          <a:p>
            <a:pPr algn="ctr">
              <a:defRPr sz="1700" b="1" i="0">
                <a:solidFill>
                  <a:srgbClr val="FFFFFF"/>
                </a:solidFill>
                <a:latin typeface="Arial"/>
              </a:defRPr>
            </a:pPr>
            <a:r>
              <a:t>PAYLOAD ≤ 13.888 B</a:t>
            </a:r>
          </a:p>
        </p:txBody>
      </p:sp>
      <p:sp>
        <p:nvSpPr>
          <p:cNvPr id="42" name="Rectangle 41"/>
          <p:cNvSpPr/>
          <p:nvPr/>
        </p:nvSpPr>
        <p:spPr>
          <a:xfrm>
            <a:off x="13761720" y="3977639"/>
            <a:ext cx="2926080" cy="11430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834872" y="4279392"/>
            <a:ext cx="2779776" cy="384048"/>
          </a:xfrm>
          <a:prstGeom prst="rect">
            <a:avLst/>
          </a:prstGeom>
          <a:noFill/>
        </p:spPr>
        <p:txBody>
          <a:bodyPr wrap="square" anchor="t" lIns="45720" rIns="45720">
            <a:spAutoFit/>
          </a:bodyPr>
          <a:lstStyle/>
          <a:p>
            <a:pPr algn="ctr">
              <a:defRPr sz="1700" b="1" i="0">
                <a:solidFill>
                  <a:srgbClr val="FFFFFF"/>
                </a:solidFill>
                <a:latin typeface="Arial"/>
              </a:defRPr>
            </a:pPr>
            <a:r>
              <a:t>CHECKSUM</a:t>
            </a:r>
          </a:p>
        </p:txBody>
      </p:sp>
      <p:sp>
        <p:nvSpPr>
          <p:cNvPr id="44" name="TextBox 43"/>
          <p:cNvSpPr txBox="1"/>
          <p:nvPr/>
        </p:nvSpPr>
        <p:spPr>
          <a:xfrm>
            <a:off x="914400" y="598932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5" name="TextBox 44"/>
          <p:cNvSpPr txBox="1"/>
          <p:nvPr/>
        </p:nvSpPr>
        <p:spPr>
          <a:xfrm>
            <a:off x="1207008" y="598932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1 byte cho mỗi mẫu tám kênh.</a:t>
            </a:r>
          </a:p>
        </p:txBody>
      </p:sp>
      <p:sp>
        <p:nvSpPr>
          <p:cNvPr id="46" name="TextBox 45"/>
          <p:cNvSpPr txBox="1"/>
          <p:nvPr/>
        </p:nvSpPr>
        <p:spPr>
          <a:xfrm>
            <a:off x="914400" y="649224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7" name="TextBox 46"/>
          <p:cNvSpPr txBox="1"/>
          <p:nvPr/>
        </p:nvSpPr>
        <p:spPr>
          <a:xfrm>
            <a:off x="1207008" y="649224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Checksum FNV-1a cho header và payload.</a:t>
            </a:r>
          </a:p>
        </p:txBody>
      </p:sp>
      <p:sp>
        <p:nvSpPr>
          <p:cNvPr id="48" name="TextBox 47"/>
          <p:cNvSpPr txBox="1"/>
          <p:nvPr/>
        </p:nvSpPr>
        <p:spPr>
          <a:xfrm>
            <a:off x="914400" y="6995160"/>
            <a:ext cx="237744" cy="274320"/>
          </a:xfrm>
          <a:prstGeom prst="rect">
            <a:avLst/>
          </a:prstGeom>
          <a:noFill/>
        </p:spPr>
        <p:txBody>
          <a:bodyPr wrap="square" anchor="t" lIns="45720" rIns="45720">
            <a:spAutoFit/>
          </a:bodyPr>
          <a:lstStyle/>
          <a:p>
            <a:pPr algn="l">
              <a:defRPr sz="2000" b="1" i="0">
                <a:solidFill>
                  <a:srgbClr val="C92535"/>
                </a:solidFill>
                <a:latin typeface="Arial"/>
              </a:defRPr>
            </a:pPr>
            <a:r>
              <a:t>•</a:t>
            </a:r>
          </a:p>
        </p:txBody>
      </p:sp>
      <p:sp>
        <p:nvSpPr>
          <p:cNvPr id="49" name="TextBox 48"/>
          <p:cNvSpPr txBox="1"/>
          <p:nvPr/>
        </p:nvSpPr>
        <p:spPr>
          <a:xfrm>
            <a:off x="1207008" y="6995160"/>
            <a:ext cx="15252192" cy="502920"/>
          </a:xfrm>
          <a:prstGeom prst="rect">
            <a:avLst/>
          </a:prstGeom>
          <a:noFill/>
        </p:spPr>
        <p:txBody>
          <a:bodyPr wrap="square" anchor="t" lIns="45720" rIns="45720">
            <a:spAutoFit/>
          </a:bodyPr>
          <a:lstStyle/>
          <a:p>
            <a:pPr algn="l">
              <a:defRPr sz="1700" b="0" i="0">
                <a:solidFill>
                  <a:srgbClr val="1E2A35"/>
                </a:solidFill>
                <a:latin typeface="Arial"/>
              </a:defRPr>
            </a:pPr>
            <a:r>
              <a:t>Metadata lưu rate, mode, trigger và trạng thái lỗi.</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PHẦN MỀM PC VÀ GIAO DIỆN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08</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gui_overview.png"/>
          <p:cNvPicPr>
            <a:picLocks noChangeAspect="1"/>
          </p:cNvPicPr>
          <p:nvPr/>
        </p:nvPicPr>
        <p:blipFill>
          <a:blip r:embed="rId4"/>
          <a:stretch>
            <a:fillRect/>
          </a:stretch>
        </p:blipFill>
        <p:spPr>
          <a:xfrm>
            <a:off x="844151" y="1325880"/>
            <a:ext cx="11479057" cy="6995160"/>
          </a:xfrm>
          <a:prstGeom prst="rect">
            <a:avLst/>
          </a:prstGeom>
          <a:ln w="12700">
            <a:solidFill>
              <a:srgbClr val="C4D1DC"/>
            </a:solidFill>
          </a:ln>
        </p:spPr>
      </p:pic>
      <p:sp>
        <p:nvSpPr>
          <p:cNvPr id="17" name="Rounded Rectangle 16"/>
          <p:cNvSpPr/>
          <p:nvPr/>
        </p:nvSpPr>
        <p:spPr>
          <a:xfrm>
            <a:off x="12801600" y="146304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801600" y="1463040"/>
            <a:ext cx="100584" cy="150876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021056" y="1627632"/>
            <a:ext cx="4187952" cy="384048"/>
          </a:xfrm>
          <a:prstGeom prst="rect">
            <a:avLst/>
          </a:prstGeom>
          <a:noFill/>
        </p:spPr>
        <p:txBody>
          <a:bodyPr wrap="square" anchor="t" lIns="45720" rIns="45720">
            <a:spAutoFit/>
          </a:bodyPr>
          <a:lstStyle/>
          <a:p>
            <a:pPr algn="l">
              <a:defRPr sz="1800" b="1" i="0">
                <a:solidFill>
                  <a:srgbClr val="1C6EA4"/>
                </a:solidFill>
                <a:latin typeface="Arial"/>
              </a:defRPr>
            </a:pPr>
            <a:r>
              <a:t>KẾT NỐI</a:t>
            </a:r>
          </a:p>
        </p:txBody>
      </p:sp>
      <p:sp>
        <p:nvSpPr>
          <p:cNvPr id="20" name="TextBox 19"/>
          <p:cNvSpPr txBox="1"/>
          <p:nvPr/>
        </p:nvSpPr>
        <p:spPr>
          <a:xfrm>
            <a:off x="13021056" y="2084832"/>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INFO · STATUS · cấu hình</a:t>
            </a:r>
          </a:p>
        </p:txBody>
      </p:sp>
      <p:sp>
        <p:nvSpPr>
          <p:cNvPr id="21" name="Rounded Rectangle 20"/>
          <p:cNvSpPr/>
          <p:nvPr/>
        </p:nvSpPr>
        <p:spPr>
          <a:xfrm>
            <a:off x="12801600" y="324612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0" y="3246120"/>
            <a:ext cx="100584" cy="150876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021056" y="3410712"/>
            <a:ext cx="4187952" cy="384048"/>
          </a:xfrm>
          <a:prstGeom prst="rect">
            <a:avLst/>
          </a:prstGeom>
          <a:noFill/>
        </p:spPr>
        <p:txBody>
          <a:bodyPr wrap="square" anchor="t" lIns="45720" rIns="45720">
            <a:spAutoFit/>
          </a:bodyPr>
          <a:lstStyle/>
          <a:p>
            <a:pPr algn="l">
              <a:defRPr sz="1800" b="1" i="0">
                <a:solidFill>
                  <a:srgbClr val="1B8A5A"/>
                </a:solidFill>
                <a:latin typeface="Arial"/>
              </a:defRPr>
            </a:pPr>
            <a:r>
              <a:t>WAVEFORM</a:t>
            </a:r>
          </a:p>
        </p:txBody>
      </p:sp>
      <p:sp>
        <p:nvSpPr>
          <p:cNvPr id="24" name="TextBox 23"/>
          <p:cNvSpPr txBox="1"/>
          <p:nvPr/>
        </p:nvSpPr>
        <p:spPr>
          <a:xfrm>
            <a:off x="13021056" y="3867911"/>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8 kênh · zoom · cuộn</a:t>
            </a:r>
          </a:p>
        </p:txBody>
      </p:sp>
      <p:sp>
        <p:nvSpPr>
          <p:cNvPr id="25" name="Rounded Rectangle 24"/>
          <p:cNvSpPr/>
          <p:nvPr/>
        </p:nvSpPr>
        <p:spPr>
          <a:xfrm>
            <a:off x="12801600" y="5029200"/>
            <a:ext cx="4572000" cy="150876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2801600" y="5029200"/>
            <a:ext cx="100584" cy="150876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021056" y="5193792"/>
            <a:ext cx="4187952" cy="384048"/>
          </a:xfrm>
          <a:prstGeom prst="rect">
            <a:avLst/>
          </a:prstGeom>
          <a:noFill/>
        </p:spPr>
        <p:txBody>
          <a:bodyPr wrap="square" anchor="t" lIns="45720" rIns="45720">
            <a:spAutoFit/>
          </a:bodyPr>
          <a:lstStyle/>
          <a:p>
            <a:pPr algn="l">
              <a:defRPr sz="1800" b="1" i="0">
                <a:solidFill>
                  <a:srgbClr val="C92535"/>
                </a:solidFill>
                <a:latin typeface="Arial"/>
              </a:defRPr>
            </a:pPr>
            <a:r>
              <a:t>PHÂN TÍCH</a:t>
            </a:r>
          </a:p>
        </p:txBody>
      </p:sp>
      <p:sp>
        <p:nvSpPr>
          <p:cNvPr id="28" name="TextBox 27"/>
          <p:cNvSpPr txBox="1"/>
          <p:nvPr/>
        </p:nvSpPr>
        <p:spPr>
          <a:xfrm>
            <a:off x="13021056" y="5650992"/>
            <a:ext cx="4187952" cy="758952"/>
          </a:xfrm>
          <a:prstGeom prst="rect">
            <a:avLst/>
          </a:prstGeom>
          <a:noFill/>
        </p:spPr>
        <p:txBody>
          <a:bodyPr wrap="square" anchor="t" lIns="45720" rIns="45720">
            <a:spAutoFit/>
          </a:bodyPr>
          <a:lstStyle/>
          <a:p>
            <a:pPr algn="l">
              <a:defRPr sz="1500" b="0" i="0">
                <a:solidFill>
                  <a:srgbClr val="1E2A35"/>
                </a:solidFill>
                <a:latin typeface="Arial"/>
              </a:defRPr>
            </a:pPr>
            <a:r>
              <a:t>Đo cạnh · tần số · decoder</a:t>
            </a:r>
          </a:p>
        </p:txBody>
      </p:sp>
      <p:sp>
        <p:nvSpPr>
          <p:cNvPr id="29" name="TextBox 28"/>
          <p:cNvSpPr txBox="1"/>
          <p:nvPr/>
        </p:nvSpPr>
        <p:spPr>
          <a:xfrm>
            <a:off x="914400" y="8430768"/>
            <a:ext cx="11338560" cy="292608"/>
          </a:xfrm>
          <a:prstGeom prst="rect">
            <a:avLst/>
          </a:prstGeom>
          <a:noFill/>
        </p:spPr>
        <p:txBody>
          <a:bodyPr wrap="square" anchor="t" lIns="45720" rIns="45720">
            <a:spAutoFit/>
          </a:bodyPr>
          <a:lstStyle/>
          <a:p>
            <a:pPr algn="ctr">
              <a:defRPr sz="1100" b="0" i="1">
                <a:solidFill>
                  <a:srgbClr val="5D6B78"/>
                </a:solidFill>
                <a:latin typeface="Arial"/>
              </a:defRPr>
            </a:pPr>
            <a:r>
              <a:t>Trạng thái trong ảnh xác nhận SLA8-FW trên COM12; dropdown Port chỉ là lựa chọn giao diện</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PHƯƠNG PHÁP KIỂM THỬ PHẦN CỨNG TRONG VÒNG</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09</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463040"/>
            <a:ext cx="100584" cy="137160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27632"/>
            <a:ext cx="3273552" cy="384048"/>
          </a:xfrm>
          <a:prstGeom prst="rect">
            <a:avLst/>
          </a:prstGeom>
          <a:noFill/>
        </p:spPr>
        <p:txBody>
          <a:bodyPr wrap="square" anchor="t" lIns="45720" rIns="45720">
            <a:spAutoFit/>
          </a:bodyPr>
          <a:lstStyle/>
          <a:p>
            <a:pPr algn="l">
              <a:defRPr sz="2000" b="1" i="0">
                <a:solidFill>
                  <a:srgbClr val="D27814"/>
                </a:solidFill>
                <a:latin typeface="Arial"/>
              </a:defRPr>
            </a:pPr>
            <a:r>
              <a:t>ARDUINO · COM18</a:t>
            </a:r>
          </a:p>
        </p:txBody>
      </p:sp>
      <p:sp>
        <p:nvSpPr>
          <p:cNvPr id="19" name="TextBox 18"/>
          <p:cNvSpPr txBox="1"/>
          <p:nvPr/>
        </p:nvSpPr>
        <p:spPr>
          <a:xfrm>
            <a:off x="1042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Tín hiệu tham chiếu</a:t>
            </a:r>
          </a:p>
        </p:txBody>
      </p:sp>
      <p:sp>
        <p:nvSpPr>
          <p:cNvPr id="20" name="Right Arrow 19"/>
          <p:cNvSpPr/>
          <p:nvPr/>
        </p:nvSpPr>
        <p:spPr>
          <a:xfrm>
            <a:off x="4572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94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394960" y="1463040"/>
            <a:ext cx="100584" cy="137160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14416" y="1627632"/>
            <a:ext cx="3273552" cy="384048"/>
          </a:xfrm>
          <a:prstGeom prst="rect">
            <a:avLst/>
          </a:prstGeom>
          <a:noFill/>
        </p:spPr>
        <p:txBody>
          <a:bodyPr wrap="square" anchor="t" lIns="45720" rIns="45720">
            <a:spAutoFit/>
          </a:bodyPr>
          <a:lstStyle/>
          <a:p>
            <a:pPr algn="l">
              <a:defRPr sz="2000" b="1" i="0">
                <a:solidFill>
                  <a:srgbClr val="003B70"/>
                </a:solidFill>
                <a:latin typeface="Arial"/>
              </a:defRPr>
            </a:pPr>
            <a:r>
              <a:t>STM32 · COM12</a:t>
            </a:r>
          </a:p>
        </p:txBody>
      </p:sp>
      <p:sp>
        <p:nvSpPr>
          <p:cNvPr id="24" name="TextBox 23"/>
          <p:cNvSpPr txBox="1"/>
          <p:nvPr/>
        </p:nvSpPr>
        <p:spPr>
          <a:xfrm>
            <a:off x="5614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Thu tám kênh</a:t>
            </a:r>
          </a:p>
        </p:txBody>
      </p:sp>
      <p:sp>
        <p:nvSpPr>
          <p:cNvPr id="25" name="Right Arrow 24"/>
          <p:cNvSpPr/>
          <p:nvPr/>
        </p:nvSpPr>
        <p:spPr>
          <a:xfrm>
            <a:off x="9144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966960" y="1463040"/>
            <a:ext cx="365760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966960" y="1463040"/>
            <a:ext cx="100584" cy="13716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86416" y="1627632"/>
            <a:ext cx="3273552" cy="384048"/>
          </a:xfrm>
          <a:prstGeom prst="rect">
            <a:avLst/>
          </a:prstGeom>
          <a:noFill/>
        </p:spPr>
        <p:txBody>
          <a:bodyPr wrap="square" anchor="t" lIns="45720" rIns="45720">
            <a:spAutoFit/>
          </a:bodyPr>
          <a:lstStyle/>
          <a:p>
            <a:pPr algn="l">
              <a:defRPr sz="2000" b="1" i="0">
                <a:solidFill>
                  <a:srgbClr val="1B8A5A"/>
                </a:solidFill>
                <a:latin typeface="Arial"/>
              </a:defRPr>
            </a:pPr>
            <a:r>
              <a:t>SLA8 + CHECKSUM</a:t>
            </a:r>
          </a:p>
        </p:txBody>
      </p:sp>
      <p:sp>
        <p:nvSpPr>
          <p:cNvPr id="29" name="TextBox 28"/>
          <p:cNvSpPr txBox="1"/>
          <p:nvPr/>
        </p:nvSpPr>
        <p:spPr>
          <a:xfrm>
            <a:off x="10186416" y="2084832"/>
            <a:ext cx="3273552" cy="621792"/>
          </a:xfrm>
          <a:prstGeom prst="rect">
            <a:avLst/>
          </a:prstGeom>
          <a:noFill/>
        </p:spPr>
        <p:txBody>
          <a:bodyPr wrap="square" anchor="t" lIns="45720" rIns="45720">
            <a:spAutoFit/>
          </a:bodyPr>
          <a:lstStyle/>
          <a:p>
            <a:pPr algn="l">
              <a:defRPr sz="1600" b="0" i="0">
                <a:solidFill>
                  <a:srgbClr val="1E2A35"/>
                </a:solidFill>
                <a:latin typeface="Arial"/>
              </a:defRPr>
            </a:pPr>
            <a:r>
              <a:t>Khung bằng chứng</a:t>
            </a:r>
          </a:p>
        </p:txBody>
      </p:sp>
      <p:sp>
        <p:nvSpPr>
          <p:cNvPr id="30" name="Right Arrow 29"/>
          <p:cNvSpPr/>
          <p:nvPr/>
        </p:nvSpPr>
        <p:spPr>
          <a:xfrm>
            <a:off x="13716000" y="1938528"/>
            <a:ext cx="731520" cy="365760"/>
          </a:xfrm>
          <a:prstGeom prst="rightArrow">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4538960" y="1463040"/>
            <a:ext cx="2926080" cy="13716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4538960" y="1463040"/>
            <a:ext cx="100584" cy="13716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758416" y="1627632"/>
            <a:ext cx="2542032" cy="384048"/>
          </a:xfrm>
          <a:prstGeom prst="rect">
            <a:avLst/>
          </a:prstGeom>
          <a:noFill/>
        </p:spPr>
        <p:txBody>
          <a:bodyPr wrap="square" anchor="t" lIns="45720" rIns="45720">
            <a:spAutoFit/>
          </a:bodyPr>
          <a:lstStyle/>
          <a:p>
            <a:pPr algn="l">
              <a:defRPr sz="2000" b="1" i="0">
                <a:solidFill>
                  <a:srgbClr val="C92535"/>
                </a:solidFill>
                <a:latin typeface="Arial"/>
              </a:defRPr>
            </a:pPr>
            <a:r>
              <a:t>ORACLE</a:t>
            </a:r>
          </a:p>
        </p:txBody>
      </p:sp>
      <p:sp>
        <p:nvSpPr>
          <p:cNvPr id="34" name="TextBox 33"/>
          <p:cNvSpPr txBox="1"/>
          <p:nvPr/>
        </p:nvSpPr>
        <p:spPr>
          <a:xfrm>
            <a:off x="14758416" y="2084832"/>
            <a:ext cx="2542032" cy="621792"/>
          </a:xfrm>
          <a:prstGeom prst="rect">
            <a:avLst/>
          </a:prstGeom>
          <a:noFill/>
        </p:spPr>
        <p:txBody>
          <a:bodyPr wrap="square" anchor="t" lIns="45720" rIns="45720">
            <a:spAutoFit/>
          </a:bodyPr>
          <a:lstStyle/>
          <a:p>
            <a:pPr algn="l">
              <a:defRPr sz="1500" b="0" i="0">
                <a:solidFill>
                  <a:srgbClr val="1E2A35"/>
                </a:solidFill>
                <a:latin typeface="Arial"/>
              </a:defRPr>
            </a:pPr>
            <a:r>
              <a:t>Đối chiếu tự động</a:t>
            </a:r>
          </a:p>
        </p:txBody>
      </p:sp>
      <p:sp>
        <p:nvSpPr>
          <p:cNvPr id="35" name="Rounded Rectangle 34"/>
          <p:cNvSpPr/>
          <p:nvPr/>
        </p:nvSpPr>
        <p:spPr>
          <a:xfrm>
            <a:off x="82296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22960" y="3931920"/>
            <a:ext cx="100584" cy="214884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2416" y="4096511"/>
            <a:ext cx="3364991" cy="384048"/>
          </a:xfrm>
          <a:prstGeom prst="rect">
            <a:avLst/>
          </a:prstGeom>
          <a:noFill/>
        </p:spPr>
        <p:txBody>
          <a:bodyPr wrap="square" anchor="t" lIns="45720" rIns="45720">
            <a:spAutoFit/>
          </a:bodyPr>
          <a:lstStyle/>
          <a:p>
            <a:pPr algn="l">
              <a:defRPr sz="2000" b="1" i="0">
                <a:solidFill>
                  <a:srgbClr val="1C6EA4"/>
                </a:solidFill>
                <a:latin typeface="Arial"/>
              </a:defRPr>
            </a:pPr>
            <a:r>
              <a:t>TOÀN VẸN</a:t>
            </a:r>
          </a:p>
        </p:txBody>
      </p:sp>
      <p:sp>
        <p:nvSpPr>
          <p:cNvPr id="38" name="TextBox 37"/>
          <p:cNvSpPr txBox="1"/>
          <p:nvPr/>
        </p:nvSpPr>
        <p:spPr>
          <a:xfrm>
            <a:off x="104241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TC01–TC02</a:t>
            </a:r>
            <a:br/>
            <a:r>
              <a:t>Khung, 8 kênh, Gray</a:t>
            </a:r>
          </a:p>
        </p:txBody>
      </p:sp>
      <p:sp>
        <p:nvSpPr>
          <p:cNvPr id="39" name="Rounded Rectangle 38"/>
          <p:cNvSpPr/>
          <p:nvPr/>
        </p:nvSpPr>
        <p:spPr>
          <a:xfrm>
            <a:off x="507492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74920" y="3931920"/>
            <a:ext cx="100584" cy="214884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94376" y="4096511"/>
            <a:ext cx="3364991" cy="384048"/>
          </a:xfrm>
          <a:prstGeom prst="rect">
            <a:avLst/>
          </a:prstGeom>
          <a:noFill/>
        </p:spPr>
        <p:txBody>
          <a:bodyPr wrap="square" anchor="t" lIns="45720" rIns="45720">
            <a:spAutoFit/>
          </a:bodyPr>
          <a:lstStyle/>
          <a:p>
            <a:pPr algn="l">
              <a:defRPr sz="2000" b="1" i="0">
                <a:solidFill>
                  <a:srgbClr val="003B70"/>
                </a:solidFill>
                <a:latin typeface="Arial"/>
              </a:defRPr>
            </a:pPr>
            <a:r>
              <a:t>TỐC ĐỘ</a:t>
            </a:r>
          </a:p>
        </p:txBody>
      </p:sp>
      <p:sp>
        <p:nvSpPr>
          <p:cNvPr id="42" name="TextBox 41"/>
          <p:cNvSpPr txBox="1"/>
          <p:nvPr/>
        </p:nvSpPr>
        <p:spPr>
          <a:xfrm>
            <a:off x="529437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TC03–TC06</a:t>
            </a:r>
            <a:br/>
            <a:r>
              <a:t>Rate, trần, Nyquist</a:t>
            </a:r>
          </a:p>
        </p:txBody>
      </p:sp>
      <p:sp>
        <p:nvSpPr>
          <p:cNvPr id="43" name="Rounded Rectangle 42"/>
          <p:cNvSpPr/>
          <p:nvPr/>
        </p:nvSpPr>
        <p:spPr>
          <a:xfrm>
            <a:off x="932688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326880" y="3931920"/>
            <a:ext cx="100584" cy="214884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46336" y="4096511"/>
            <a:ext cx="3364991" cy="384048"/>
          </a:xfrm>
          <a:prstGeom prst="rect">
            <a:avLst/>
          </a:prstGeom>
          <a:noFill/>
        </p:spPr>
        <p:txBody>
          <a:bodyPr wrap="square" anchor="t" lIns="45720" rIns="45720">
            <a:spAutoFit/>
          </a:bodyPr>
          <a:lstStyle/>
          <a:p>
            <a:pPr algn="l">
              <a:defRPr sz="2000" b="1" i="0">
                <a:solidFill>
                  <a:srgbClr val="1B8A5A"/>
                </a:solidFill>
                <a:latin typeface="Arial"/>
              </a:defRPr>
            </a:pPr>
            <a:r>
              <a:t>GIAO THỨC</a:t>
            </a:r>
          </a:p>
        </p:txBody>
      </p:sp>
      <p:sp>
        <p:nvSpPr>
          <p:cNvPr id="46" name="TextBox 45"/>
          <p:cNvSpPr txBox="1"/>
          <p:nvPr/>
        </p:nvSpPr>
        <p:spPr>
          <a:xfrm>
            <a:off x="954633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TC07–TC09</a:t>
            </a:r>
            <a:br/>
            <a:r>
              <a:t>UART, I2C, SPI</a:t>
            </a:r>
          </a:p>
        </p:txBody>
      </p:sp>
      <p:sp>
        <p:nvSpPr>
          <p:cNvPr id="47" name="Rounded Rectangle 46"/>
          <p:cNvSpPr/>
          <p:nvPr/>
        </p:nvSpPr>
        <p:spPr>
          <a:xfrm>
            <a:off x="13578840" y="3931920"/>
            <a:ext cx="3749039" cy="214884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3578840" y="3931920"/>
            <a:ext cx="100584" cy="214884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3798296" y="4096511"/>
            <a:ext cx="3364991" cy="384048"/>
          </a:xfrm>
          <a:prstGeom prst="rect">
            <a:avLst/>
          </a:prstGeom>
          <a:noFill/>
        </p:spPr>
        <p:txBody>
          <a:bodyPr wrap="square" anchor="t" lIns="45720" rIns="45720">
            <a:spAutoFit/>
          </a:bodyPr>
          <a:lstStyle/>
          <a:p>
            <a:pPr algn="l">
              <a:defRPr sz="2000" b="1" i="0">
                <a:solidFill>
                  <a:srgbClr val="C92535"/>
                </a:solidFill>
                <a:latin typeface="Arial"/>
              </a:defRPr>
            </a:pPr>
            <a:r>
              <a:t>TRIGGER</a:t>
            </a:r>
          </a:p>
        </p:txBody>
      </p:sp>
      <p:sp>
        <p:nvSpPr>
          <p:cNvPr id="50" name="TextBox 49"/>
          <p:cNvSpPr txBox="1"/>
          <p:nvPr/>
        </p:nvSpPr>
        <p:spPr>
          <a:xfrm>
            <a:off x="13798296" y="4553712"/>
            <a:ext cx="3364991" cy="1399032"/>
          </a:xfrm>
          <a:prstGeom prst="rect">
            <a:avLst/>
          </a:prstGeom>
          <a:noFill/>
        </p:spPr>
        <p:txBody>
          <a:bodyPr wrap="square" anchor="t" lIns="45720" rIns="45720">
            <a:spAutoFit/>
          </a:bodyPr>
          <a:lstStyle/>
          <a:p>
            <a:pPr algn="l">
              <a:defRPr sz="1700" b="0" i="0">
                <a:solidFill>
                  <a:srgbClr val="1E2A35"/>
                </a:solidFill>
                <a:latin typeface="Arial"/>
              </a:defRPr>
            </a:pPr>
            <a:r>
              <a:t>TC10</a:t>
            </a:r>
            <a:br/>
            <a:r>
              <a:t>Cạnh rơi và đầu vào sai</a:t>
            </a:r>
          </a:p>
        </p:txBody>
      </p:sp>
      <p:sp>
        <p:nvSpPr>
          <p:cNvPr id="51" name="TextBox 50"/>
          <p:cNvSpPr txBox="1"/>
          <p:nvPr/>
        </p:nvSpPr>
        <p:spPr>
          <a:xfrm>
            <a:off x="2926080" y="6812280"/>
            <a:ext cx="12344400" cy="502920"/>
          </a:xfrm>
          <a:prstGeom prst="rect">
            <a:avLst/>
          </a:prstGeom>
          <a:noFill/>
        </p:spPr>
        <p:txBody>
          <a:bodyPr wrap="square" anchor="t" lIns="45720" rIns="45720">
            <a:spAutoFit/>
          </a:bodyPr>
          <a:lstStyle/>
          <a:p>
            <a:pPr algn="ctr">
              <a:defRPr sz="2000" b="1" i="0">
                <a:solidFill>
                  <a:srgbClr val="003B70"/>
                </a:solidFill>
                <a:latin typeface="Arial"/>
              </a:defRPr>
            </a:pPr>
            <a:r>
              <a:t>Gray 8 bit: mỗi bước hợp lệ chỉ thay đổi đúng một bit</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KẾT QUẢ TỐC ĐỘ VÀ TOÀN VẸN DỮ LIỆU</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10</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tc04_ceiling.png"/>
          <p:cNvPicPr>
            <a:picLocks noChangeAspect="1"/>
          </p:cNvPicPr>
          <p:nvPr/>
        </p:nvPicPr>
        <p:blipFill>
          <a:blip r:embed="rId4"/>
          <a:stretch>
            <a:fillRect/>
          </a:stretch>
        </p:blipFill>
        <p:spPr>
          <a:xfrm>
            <a:off x="886350" y="1325880"/>
            <a:ext cx="11028898" cy="6720840"/>
          </a:xfrm>
          <a:prstGeom prst="rect">
            <a:avLst/>
          </a:prstGeom>
          <a:ln w="12700">
            <a:solidFill>
              <a:srgbClr val="C4D1DC"/>
            </a:solidFill>
          </a:ln>
        </p:spPr>
      </p:pic>
      <p:sp>
        <p:nvSpPr>
          <p:cNvPr id="17" name="Rounded Rectangle 16"/>
          <p:cNvSpPr/>
          <p:nvPr/>
        </p:nvSpPr>
        <p:spPr>
          <a:xfrm>
            <a:off x="12573000" y="141732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710160" y="1563624"/>
            <a:ext cx="4206240" cy="566928"/>
          </a:xfrm>
          <a:prstGeom prst="rect">
            <a:avLst/>
          </a:prstGeom>
          <a:noFill/>
        </p:spPr>
        <p:txBody>
          <a:bodyPr wrap="square" anchor="t" lIns="45720" rIns="45720">
            <a:spAutoFit/>
          </a:bodyPr>
          <a:lstStyle/>
          <a:p>
            <a:pPr algn="ctr">
              <a:defRPr sz="2700" b="1" i="0">
                <a:solidFill>
                  <a:srgbClr val="003B70"/>
                </a:solidFill>
                <a:latin typeface="Arial"/>
              </a:defRPr>
            </a:pPr>
            <a:r>
              <a:t>6,545 MS/s</a:t>
            </a:r>
          </a:p>
        </p:txBody>
      </p:sp>
      <p:sp>
        <p:nvSpPr>
          <p:cNvPr id="19" name="TextBox 18"/>
          <p:cNvSpPr txBox="1"/>
          <p:nvPr/>
        </p:nvSpPr>
        <p:spPr>
          <a:xfrm>
            <a:off x="12737592" y="216712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DMA sạch · sai số 0,0079%</a:t>
            </a:r>
          </a:p>
        </p:txBody>
      </p:sp>
      <p:sp>
        <p:nvSpPr>
          <p:cNvPr id="20" name="Rounded Rectangle 19"/>
          <p:cNvSpPr/>
          <p:nvPr/>
        </p:nvSpPr>
        <p:spPr>
          <a:xfrm>
            <a:off x="12573000" y="342900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710160" y="3575304"/>
            <a:ext cx="4206240" cy="566928"/>
          </a:xfrm>
          <a:prstGeom prst="rect">
            <a:avLst/>
          </a:prstGeom>
          <a:noFill/>
        </p:spPr>
        <p:txBody>
          <a:bodyPr wrap="square" anchor="t" lIns="45720" rIns="45720">
            <a:spAutoFit/>
          </a:bodyPr>
          <a:lstStyle/>
          <a:p>
            <a:pPr algn="ctr">
              <a:defRPr sz="2700" b="1" i="0">
                <a:solidFill>
                  <a:srgbClr val="D27814"/>
                </a:solidFill>
                <a:latin typeface="Arial"/>
              </a:defRPr>
            </a:pPr>
            <a:r>
              <a:t>400 kS/s</a:t>
            </a:r>
          </a:p>
        </p:txBody>
      </p:sp>
      <p:sp>
        <p:nvSpPr>
          <p:cNvPr id="22" name="TextBox 21"/>
          <p:cNvSpPr txBox="1"/>
          <p:nvPr/>
        </p:nvSpPr>
        <p:spPr>
          <a:xfrm>
            <a:off x="12737592" y="417880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ISR sạch · 0 overrun</a:t>
            </a:r>
          </a:p>
        </p:txBody>
      </p:sp>
      <p:sp>
        <p:nvSpPr>
          <p:cNvPr id="23" name="Rounded Rectangle 22"/>
          <p:cNvSpPr/>
          <p:nvPr/>
        </p:nvSpPr>
        <p:spPr>
          <a:xfrm>
            <a:off x="12573000" y="5440680"/>
            <a:ext cx="4480560" cy="1600200"/>
          </a:xfrm>
          <a:prstGeom prst="roundRect">
            <a:avLst/>
          </a:prstGeom>
          <a:solidFill>
            <a:srgbClr val="F1F5F8"/>
          </a:solidFill>
          <a:ln>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710160" y="5586984"/>
            <a:ext cx="4206240" cy="566928"/>
          </a:xfrm>
          <a:prstGeom prst="rect">
            <a:avLst/>
          </a:prstGeom>
          <a:noFill/>
        </p:spPr>
        <p:txBody>
          <a:bodyPr wrap="square" anchor="t" lIns="45720" rIns="45720">
            <a:spAutoFit/>
          </a:bodyPr>
          <a:lstStyle/>
          <a:p>
            <a:pPr algn="ctr">
              <a:defRPr sz="2700" b="1" i="0">
                <a:solidFill>
                  <a:srgbClr val="1B8A5A"/>
                </a:solidFill>
                <a:latin typeface="Arial"/>
              </a:defRPr>
            </a:pPr>
            <a:r>
              <a:t>0</a:t>
            </a:r>
          </a:p>
        </p:txBody>
      </p:sp>
      <p:sp>
        <p:nvSpPr>
          <p:cNvPr id="25" name="TextBox 24"/>
          <p:cNvSpPr txBox="1"/>
          <p:nvPr/>
        </p:nvSpPr>
        <p:spPr>
          <a:xfrm>
            <a:off x="12737592" y="6190488"/>
            <a:ext cx="4151376" cy="731520"/>
          </a:xfrm>
          <a:prstGeom prst="rect">
            <a:avLst/>
          </a:prstGeom>
          <a:noFill/>
        </p:spPr>
        <p:txBody>
          <a:bodyPr wrap="square" anchor="t" lIns="45720" rIns="45720">
            <a:spAutoFit/>
          </a:bodyPr>
          <a:lstStyle/>
          <a:p>
            <a:pPr algn="ctr">
              <a:defRPr sz="1300" b="0" i="0">
                <a:solidFill>
                  <a:srgbClr val="5D6B78"/>
                </a:solidFill>
                <a:latin typeface="Arial"/>
              </a:defRPr>
            </a:pPr>
            <a:r>
              <a:t>Overflow · dropped · checksum lỗi</a:t>
            </a:r>
          </a:p>
        </p:txBody>
      </p:sp>
      <p:sp>
        <p:nvSpPr>
          <p:cNvPr id="26" name="TextBox 25"/>
          <p:cNvSpPr txBox="1"/>
          <p:nvPr/>
        </p:nvSpPr>
        <p:spPr>
          <a:xfrm>
            <a:off x="12481560" y="7452360"/>
            <a:ext cx="4663440" cy="594360"/>
          </a:xfrm>
          <a:prstGeom prst="rect">
            <a:avLst/>
          </a:prstGeom>
          <a:noFill/>
        </p:spPr>
        <p:txBody>
          <a:bodyPr wrap="square" anchor="t" lIns="45720" rIns="45720">
            <a:spAutoFit/>
          </a:bodyPr>
          <a:lstStyle/>
          <a:p>
            <a:pPr algn="ctr">
              <a:defRPr sz="1500" b="1" i="0">
                <a:solidFill>
                  <a:srgbClr val="C92535"/>
                </a:solidFill>
                <a:latin typeface="Arial"/>
              </a:defRPr>
            </a:pPr>
            <a:r>
              <a:t>7 / 8 / 10 MS/s bị firmware từ chối thay vì thu sai</a:t>
            </a:r>
          </a:p>
        </p:txBody>
      </p:sp>
      <p:sp>
        <p:nvSpPr>
          <p:cNvPr id="27" name="TextBox 26"/>
          <p:cNvSpPr txBox="1"/>
          <p:nvPr/>
        </p:nvSpPr>
        <p:spPr>
          <a:xfrm>
            <a:off x="914400" y="8275320"/>
            <a:ext cx="10972800" cy="292608"/>
          </a:xfrm>
          <a:prstGeom prst="rect">
            <a:avLst/>
          </a:prstGeom>
          <a:noFill/>
        </p:spPr>
        <p:txBody>
          <a:bodyPr wrap="square" anchor="t" lIns="45720" rIns="45720">
            <a:spAutoFit/>
          </a:bodyPr>
          <a:lstStyle/>
          <a:p>
            <a:pPr algn="ctr">
              <a:defRPr sz="1100" b="0" i="1">
                <a:solidFill>
                  <a:srgbClr val="5D6B78"/>
                </a:solidFill>
                <a:latin typeface="Arial"/>
              </a:defRPr>
            </a:pPr>
            <a:r>
              <a:t>TC-04 phát lại offline từ frame .sla8; dropdown Port không phải nguồn capture</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TÁM KÊNH ĐỒNG THỜI VÀ GIỚI HẠN NYQUIST</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11</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pic>
        <p:nvPicPr>
          <p:cNvPr id="16" name="Picture 15" descr="fig_tc02_gray8ch.png"/>
          <p:cNvPicPr>
            <a:picLocks noChangeAspect="1"/>
          </p:cNvPicPr>
          <p:nvPr/>
        </p:nvPicPr>
        <p:blipFill>
          <a:blip r:embed="rId4"/>
          <a:stretch>
            <a:fillRect/>
          </a:stretch>
        </p:blipFill>
        <p:spPr>
          <a:xfrm>
            <a:off x="685800" y="2009855"/>
            <a:ext cx="8183879" cy="4987129"/>
          </a:xfrm>
          <a:prstGeom prst="rect">
            <a:avLst/>
          </a:prstGeom>
          <a:ln w="12700">
            <a:solidFill>
              <a:srgbClr val="C4D1DC"/>
            </a:solidFill>
          </a:ln>
        </p:spPr>
      </p:pic>
      <p:pic>
        <p:nvPicPr>
          <p:cNvPr id="17" name="Picture 16" descr="fig_tc06_aliasing.png"/>
          <p:cNvPicPr>
            <a:picLocks noChangeAspect="1"/>
          </p:cNvPicPr>
          <p:nvPr/>
        </p:nvPicPr>
        <p:blipFill>
          <a:blip r:embed="rId5"/>
          <a:stretch>
            <a:fillRect/>
          </a:stretch>
        </p:blipFill>
        <p:spPr>
          <a:xfrm>
            <a:off x="9372600" y="2457450"/>
            <a:ext cx="8183879" cy="4091939"/>
          </a:xfrm>
          <a:prstGeom prst="rect">
            <a:avLst/>
          </a:prstGeom>
          <a:ln w="12700">
            <a:solidFill>
              <a:srgbClr val="C4D1DC"/>
            </a:solidFill>
          </a:ln>
        </p:spPr>
      </p:pic>
      <p:sp>
        <p:nvSpPr>
          <p:cNvPr id="18" name="TextBox 17"/>
          <p:cNvSpPr txBox="1"/>
          <p:nvPr/>
        </p:nvSpPr>
        <p:spPr>
          <a:xfrm>
            <a:off x="822960" y="7818120"/>
            <a:ext cx="7863840" cy="292608"/>
          </a:xfrm>
          <a:prstGeom prst="rect">
            <a:avLst/>
          </a:prstGeom>
          <a:noFill/>
        </p:spPr>
        <p:txBody>
          <a:bodyPr wrap="square" anchor="t" lIns="45720" rIns="45720">
            <a:spAutoFit/>
          </a:bodyPr>
          <a:lstStyle/>
          <a:p>
            <a:pPr algn="ctr">
              <a:defRPr sz="1100" b="0" i="1">
                <a:solidFill>
                  <a:srgbClr val="5D6B78"/>
                </a:solidFill>
                <a:latin typeface="Arial"/>
              </a:defRPr>
            </a:pPr>
            <a:r>
              <a:t>Gray 8 kênh: 0 lỗi chuỗi, 0 short run</a:t>
            </a:r>
          </a:p>
        </p:txBody>
      </p:sp>
      <p:sp>
        <p:nvSpPr>
          <p:cNvPr id="19" name="TextBox 18"/>
          <p:cNvSpPr txBox="1"/>
          <p:nvPr/>
        </p:nvSpPr>
        <p:spPr>
          <a:xfrm>
            <a:off x="9509760" y="7818120"/>
            <a:ext cx="7863840" cy="292608"/>
          </a:xfrm>
          <a:prstGeom prst="rect">
            <a:avLst/>
          </a:prstGeom>
          <a:noFill/>
        </p:spPr>
        <p:txBody>
          <a:bodyPr wrap="square" anchor="t" lIns="45720" rIns="45720">
            <a:spAutoFit/>
          </a:bodyPr>
          <a:lstStyle/>
          <a:p>
            <a:pPr algn="ctr">
              <a:defRPr sz="1100" b="0" i="1">
                <a:solidFill>
                  <a:srgbClr val="5D6B78"/>
                </a:solidFill>
                <a:latin typeface="Arial"/>
              </a:defRPr>
            </a:pPr>
            <a:r>
              <a:t>25 kHz: đúng ở 1 MS/s, alias khoảng 5 kHz ở 30 kS/s</a:t>
            </a:r>
          </a:p>
        </p:txBody>
      </p:sp>
      <p:sp>
        <p:nvSpPr>
          <p:cNvPr id="20" name="TextBox 19"/>
          <p:cNvSpPr txBox="1"/>
          <p:nvPr/>
        </p:nvSpPr>
        <p:spPr>
          <a:xfrm>
            <a:off x="1920240" y="8458200"/>
            <a:ext cx="14447520" cy="438912"/>
          </a:xfrm>
          <a:prstGeom prst="rect">
            <a:avLst/>
          </a:prstGeom>
          <a:noFill/>
        </p:spPr>
        <p:txBody>
          <a:bodyPr wrap="square" anchor="t" lIns="45720" rIns="45720">
            <a:spAutoFit/>
          </a:bodyPr>
          <a:lstStyle/>
          <a:p>
            <a:pPr algn="ctr">
              <a:defRPr sz="1600" b="1" i="0">
                <a:solidFill>
                  <a:srgbClr val="C92535"/>
                </a:solidFill>
                <a:latin typeface="Arial"/>
              </a:defRPr>
            </a:pPr>
            <a:r>
              <a:t>Skew &lt; 1 chu kỳ mẫu là chặn trên từ oracle Gray — không phải phép đo jitter tuyệt đối.</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GIẢI MÃ UART, I2C VÀ SPI</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12</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594360" y="1325880"/>
            <a:ext cx="5486400" cy="384048"/>
          </a:xfrm>
          <a:prstGeom prst="rect">
            <a:avLst/>
          </a:prstGeom>
          <a:noFill/>
        </p:spPr>
        <p:txBody>
          <a:bodyPr wrap="square" anchor="t" lIns="45720" rIns="45720">
            <a:spAutoFit/>
          </a:bodyPr>
          <a:lstStyle/>
          <a:p>
            <a:pPr algn="ctr">
              <a:defRPr sz="1900" b="1" i="0">
                <a:solidFill>
                  <a:srgbClr val="1C6EA4"/>
                </a:solidFill>
                <a:latin typeface="Arial"/>
              </a:defRPr>
            </a:pPr>
            <a:r>
              <a:t>UART · 57.600 baud</a:t>
            </a:r>
          </a:p>
        </p:txBody>
      </p:sp>
      <p:pic>
        <p:nvPicPr>
          <p:cNvPr id="17" name="Picture 16" descr="fig_tc07_uart.png"/>
          <p:cNvPicPr>
            <a:picLocks noChangeAspect="1"/>
          </p:cNvPicPr>
          <p:nvPr/>
        </p:nvPicPr>
        <p:blipFill>
          <a:blip r:embed="rId4"/>
          <a:stretch>
            <a:fillRect/>
          </a:stretch>
        </p:blipFill>
        <p:spPr>
          <a:xfrm>
            <a:off x="594360" y="2626016"/>
            <a:ext cx="5486400" cy="3343327"/>
          </a:xfrm>
          <a:prstGeom prst="rect">
            <a:avLst/>
          </a:prstGeom>
          <a:ln w="12700">
            <a:solidFill>
              <a:srgbClr val="C4D1DC"/>
            </a:solidFill>
          </a:ln>
        </p:spPr>
      </p:pic>
      <p:sp>
        <p:nvSpPr>
          <p:cNvPr id="18" name="TextBox 17"/>
          <p:cNvSpPr txBox="1"/>
          <p:nvPr/>
        </p:nvSpPr>
        <p:spPr>
          <a:xfrm>
            <a:off x="59436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55 A5 4F 4B · 0 framing error</a:t>
            </a:r>
          </a:p>
        </p:txBody>
      </p:sp>
      <p:sp>
        <p:nvSpPr>
          <p:cNvPr id="19" name="TextBox 18"/>
          <p:cNvSpPr txBox="1"/>
          <p:nvPr/>
        </p:nvSpPr>
        <p:spPr>
          <a:xfrm>
            <a:off x="6492240" y="1325880"/>
            <a:ext cx="5486400" cy="384048"/>
          </a:xfrm>
          <a:prstGeom prst="rect">
            <a:avLst/>
          </a:prstGeom>
          <a:noFill/>
        </p:spPr>
        <p:txBody>
          <a:bodyPr wrap="square" anchor="t" lIns="45720" rIns="45720">
            <a:spAutoFit/>
          </a:bodyPr>
          <a:lstStyle/>
          <a:p>
            <a:pPr algn="ctr">
              <a:defRPr sz="1900" b="1" i="0">
                <a:solidFill>
                  <a:srgbClr val="1B8A5A"/>
                </a:solidFill>
                <a:latin typeface="Arial"/>
              </a:defRPr>
            </a:pPr>
            <a:r>
              <a:t>I2C · 2 MS/s</a:t>
            </a:r>
          </a:p>
        </p:txBody>
      </p:sp>
      <p:pic>
        <p:nvPicPr>
          <p:cNvPr id="20" name="Picture 19" descr="fig_tc08_i2c.png"/>
          <p:cNvPicPr>
            <a:picLocks noChangeAspect="1"/>
          </p:cNvPicPr>
          <p:nvPr/>
        </p:nvPicPr>
        <p:blipFill>
          <a:blip r:embed="rId5"/>
          <a:stretch>
            <a:fillRect/>
          </a:stretch>
        </p:blipFill>
        <p:spPr>
          <a:xfrm>
            <a:off x="6492240" y="2626016"/>
            <a:ext cx="5486400" cy="3343327"/>
          </a:xfrm>
          <a:prstGeom prst="rect">
            <a:avLst/>
          </a:prstGeom>
          <a:ln w="12700">
            <a:solidFill>
              <a:srgbClr val="C4D1DC"/>
            </a:solidFill>
          </a:ln>
        </p:spPr>
      </p:pic>
      <p:sp>
        <p:nvSpPr>
          <p:cNvPr id="21" name="TextBox 20"/>
          <p:cNvSpPr txBox="1"/>
          <p:nvPr/>
        </p:nvSpPr>
        <p:spPr>
          <a:xfrm>
            <a:off x="649224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START · 0x50 W · A5 ACK · 5A NACK · STOP</a:t>
            </a:r>
          </a:p>
        </p:txBody>
      </p:sp>
      <p:sp>
        <p:nvSpPr>
          <p:cNvPr id="22" name="TextBox 21"/>
          <p:cNvSpPr txBox="1"/>
          <p:nvPr/>
        </p:nvSpPr>
        <p:spPr>
          <a:xfrm>
            <a:off x="12390120" y="1325880"/>
            <a:ext cx="5486400" cy="384048"/>
          </a:xfrm>
          <a:prstGeom prst="rect">
            <a:avLst/>
          </a:prstGeom>
          <a:noFill/>
        </p:spPr>
        <p:txBody>
          <a:bodyPr wrap="square" anchor="t" lIns="45720" rIns="45720">
            <a:spAutoFit/>
          </a:bodyPr>
          <a:lstStyle/>
          <a:p>
            <a:pPr algn="ctr">
              <a:defRPr sz="1900" b="1" i="0">
                <a:solidFill>
                  <a:srgbClr val="C92535"/>
                </a:solidFill>
                <a:latin typeface="Arial"/>
              </a:defRPr>
            </a:pPr>
            <a:r>
              <a:t>SPI · 500 kS/s</a:t>
            </a:r>
          </a:p>
        </p:txBody>
      </p:sp>
      <p:pic>
        <p:nvPicPr>
          <p:cNvPr id="23" name="Picture 22" descr="fig_tc09_spi.png"/>
          <p:cNvPicPr>
            <a:picLocks noChangeAspect="1"/>
          </p:cNvPicPr>
          <p:nvPr/>
        </p:nvPicPr>
        <p:blipFill>
          <a:blip r:embed="rId6"/>
          <a:stretch>
            <a:fillRect/>
          </a:stretch>
        </p:blipFill>
        <p:spPr>
          <a:xfrm>
            <a:off x="12390120" y="2626016"/>
            <a:ext cx="5486400" cy="3343327"/>
          </a:xfrm>
          <a:prstGeom prst="rect">
            <a:avLst/>
          </a:prstGeom>
          <a:ln w="12700">
            <a:solidFill>
              <a:srgbClr val="C4D1DC"/>
            </a:solidFill>
          </a:ln>
        </p:spPr>
      </p:pic>
      <p:sp>
        <p:nvSpPr>
          <p:cNvPr id="24" name="TextBox 23"/>
          <p:cNvSpPr txBox="1"/>
          <p:nvPr/>
        </p:nvSpPr>
        <p:spPr>
          <a:xfrm>
            <a:off x="12390120" y="6995160"/>
            <a:ext cx="5486400" cy="868680"/>
          </a:xfrm>
          <a:prstGeom prst="rect">
            <a:avLst/>
          </a:prstGeom>
          <a:noFill/>
        </p:spPr>
        <p:txBody>
          <a:bodyPr wrap="square" anchor="t" lIns="45720" rIns="45720">
            <a:spAutoFit/>
          </a:bodyPr>
          <a:lstStyle/>
          <a:p>
            <a:pPr algn="ctr">
              <a:defRPr sz="1400" b="1" i="0">
                <a:solidFill>
                  <a:srgbClr val="1E2A35"/>
                </a:solidFill>
                <a:latin typeface="Arial"/>
              </a:defRPr>
            </a:pPr>
            <a:r>
              <a:t>MOSI/MISO: 55/A5 · A5/3C · 5A/C3</a:t>
            </a:r>
          </a:p>
        </p:txBody>
      </p:sp>
      <p:sp>
        <p:nvSpPr>
          <p:cNvPr id="25" name="TextBox 24"/>
          <p:cNvSpPr txBox="1"/>
          <p:nvPr/>
        </p:nvSpPr>
        <p:spPr>
          <a:xfrm>
            <a:off x="2743200" y="8321040"/>
            <a:ext cx="12801600" cy="411480"/>
          </a:xfrm>
          <a:prstGeom prst="rect">
            <a:avLst/>
          </a:prstGeom>
          <a:noFill/>
        </p:spPr>
        <p:txBody>
          <a:bodyPr wrap="square" anchor="t" lIns="45720" rIns="45720">
            <a:spAutoFit/>
          </a:bodyPr>
          <a:lstStyle/>
          <a:p>
            <a:pPr algn="ctr">
              <a:defRPr sz="1600" b="1" i="0">
                <a:solidFill>
                  <a:srgbClr val="003B70"/>
                </a:solidFill>
                <a:latin typeface="Arial"/>
              </a:defRPr>
            </a:pPr>
            <a:r>
              <a:t>Ảnh phát lại offline từ .sla8; COM12/COM18 được xác minh riêng bằng device probe.</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TRIGGER VÀ XỬ LÝ TRƯỜNG HỢP BIÊN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13</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TextBox 15"/>
          <p:cNvSpPr txBox="1"/>
          <p:nvPr/>
        </p:nvSpPr>
        <p:spPr>
          <a:xfrm>
            <a:off x="822960" y="1325880"/>
            <a:ext cx="8046720" cy="384048"/>
          </a:xfrm>
          <a:prstGeom prst="rect">
            <a:avLst/>
          </a:prstGeom>
          <a:noFill/>
        </p:spPr>
        <p:txBody>
          <a:bodyPr wrap="square" anchor="t" lIns="45720" rIns="45720">
            <a:spAutoFit/>
          </a:bodyPr>
          <a:lstStyle/>
          <a:p>
            <a:pPr algn="ctr">
              <a:defRPr sz="2000" b="1" i="0">
                <a:solidFill>
                  <a:srgbClr val="C92535"/>
                </a:solidFill>
                <a:latin typeface="Arial"/>
              </a:defRPr>
            </a:pPr>
            <a:r>
              <a:t>SPI LẤY MẪU KHÔNG ĐỦ</a:t>
            </a:r>
          </a:p>
        </p:txBody>
      </p:sp>
      <p:pic>
        <p:nvPicPr>
          <p:cNvPr id="17" name="Picture 16" descr="fig_tc09_spi_undersampled.png"/>
          <p:cNvPicPr>
            <a:picLocks noChangeAspect="1"/>
          </p:cNvPicPr>
          <p:nvPr/>
        </p:nvPicPr>
        <p:blipFill>
          <a:blip r:embed="rId4"/>
          <a:stretch>
            <a:fillRect/>
          </a:stretch>
        </p:blipFill>
        <p:spPr>
          <a:xfrm>
            <a:off x="731520" y="2041644"/>
            <a:ext cx="8229600" cy="5014990"/>
          </a:xfrm>
          <a:prstGeom prst="rect">
            <a:avLst/>
          </a:prstGeom>
          <a:ln w="12700">
            <a:solidFill>
              <a:srgbClr val="C4D1DC"/>
            </a:solidFill>
          </a:ln>
        </p:spPr>
      </p:pic>
      <p:sp>
        <p:nvSpPr>
          <p:cNvPr id="18" name="TextBox 17"/>
          <p:cNvSpPr txBox="1"/>
          <p:nvPr/>
        </p:nvSpPr>
        <p:spPr>
          <a:xfrm>
            <a:off x="914400" y="7452360"/>
            <a:ext cx="7863840" cy="365760"/>
          </a:xfrm>
          <a:prstGeom prst="rect">
            <a:avLst/>
          </a:prstGeom>
          <a:noFill/>
        </p:spPr>
        <p:txBody>
          <a:bodyPr wrap="square" anchor="t" lIns="45720" rIns="45720">
            <a:spAutoFit/>
          </a:bodyPr>
          <a:lstStyle/>
          <a:p>
            <a:pPr algn="ctr">
              <a:defRPr sz="1600" b="1" i="0">
                <a:solidFill>
                  <a:srgbClr val="C92535"/>
                </a:solidFill>
                <a:latin typeface="Arial"/>
              </a:defRPr>
            </a:pPr>
            <a:r>
              <a:t>Cảnh báo UNDERSAMPLED · không phát byte sai</a:t>
            </a:r>
          </a:p>
        </p:txBody>
      </p:sp>
      <p:sp>
        <p:nvSpPr>
          <p:cNvPr id="19" name="TextBox 18"/>
          <p:cNvSpPr txBox="1"/>
          <p:nvPr/>
        </p:nvSpPr>
        <p:spPr>
          <a:xfrm>
            <a:off x="9372600" y="1325880"/>
            <a:ext cx="8046720" cy="384048"/>
          </a:xfrm>
          <a:prstGeom prst="rect">
            <a:avLst/>
          </a:prstGeom>
          <a:noFill/>
        </p:spPr>
        <p:txBody>
          <a:bodyPr wrap="square" anchor="t" lIns="45720" rIns="45720">
            <a:spAutoFit/>
          </a:bodyPr>
          <a:lstStyle/>
          <a:p>
            <a:pPr algn="ctr">
              <a:defRPr sz="2000" b="1" i="0">
                <a:solidFill>
                  <a:srgbClr val="003B70"/>
                </a:solidFill>
                <a:latin typeface="Arial"/>
              </a:defRPr>
            </a:pPr>
            <a:r>
              <a:t>TRIGGER FALL CH6</a:t>
            </a:r>
          </a:p>
        </p:txBody>
      </p:sp>
      <p:pic>
        <p:nvPicPr>
          <p:cNvPr id="20" name="Picture 19" descr="fig_tc10_trigger.png"/>
          <p:cNvPicPr>
            <a:picLocks noChangeAspect="1"/>
          </p:cNvPicPr>
          <p:nvPr/>
        </p:nvPicPr>
        <p:blipFill>
          <a:blip r:embed="rId5"/>
          <a:stretch>
            <a:fillRect/>
          </a:stretch>
        </p:blipFill>
        <p:spPr>
          <a:xfrm>
            <a:off x="9326880" y="2041644"/>
            <a:ext cx="8229600" cy="5014990"/>
          </a:xfrm>
          <a:prstGeom prst="rect">
            <a:avLst/>
          </a:prstGeom>
          <a:ln w="12700">
            <a:solidFill>
              <a:srgbClr val="C4D1DC"/>
            </a:solidFill>
          </a:ln>
        </p:spPr>
      </p:pic>
      <p:sp>
        <p:nvSpPr>
          <p:cNvPr id="21" name="TextBox 20"/>
          <p:cNvSpPr txBox="1"/>
          <p:nvPr/>
        </p:nvSpPr>
        <p:spPr>
          <a:xfrm>
            <a:off x="9509760" y="7452360"/>
            <a:ext cx="7863840" cy="365760"/>
          </a:xfrm>
          <a:prstGeom prst="rect">
            <a:avLst/>
          </a:prstGeom>
          <a:noFill/>
        </p:spPr>
        <p:txBody>
          <a:bodyPr wrap="square" anchor="t" lIns="45720" rIns="45720">
            <a:spAutoFit/>
          </a:bodyPr>
          <a:lstStyle/>
          <a:p>
            <a:pPr algn="ctr">
              <a:defRPr sz="1600" b="1" i="0">
                <a:solidFill>
                  <a:srgbClr val="003B70"/>
                </a:solidFill>
                <a:latin typeface="Arial"/>
              </a:defRPr>
            </a:pPr>
            <a:r>
              <a:t>Trigger index 1490 · vùng pre-trigger giữ mức HIGH</a:t>
            </a:r>
          </a:p>
        </p:txBody>
      </p:sp>
      <p:sp>
        <p:nvSpPr>
          <p:cNvPr id="22" name="TextBox 21"/>
          <p:cNvSpPr txBox="1"/>
          <p:nvPr/>
        </p:nvSpPr>
        <p:spPr>
          <a:xfrm>
            <a:off x="3657600" y="8366760"/>
            <a:ext cx="10972800" cy="411480"/>
          </a:xfrm>
          <a:prstGeom prst="rect">
            <a:avLst/>
          </a:prstGeom>
          <a:noFill/>
        </p:spPr>
        <p:txBody>
          <a:bodyPr wrap="square" anchor="t" lIns="45720" rIns="45720">
            <a:spAutoFit/>
          </a:bodyPr>
          <a:lstStyle/>
          <a:p>
            <a:pPr algn="ctr">
              <a:defRPr sz="1600" b="1" i="0">
                <a:solidFill>
                  <a:srgbClr val="1B8A5A"/>
                </a:solidFill>
                <a:latin typeface="Arial"/>
              </a:defRPr>
            </a:pPr>
            <a:r>
              <a:t>Ảnh phát lại offline từ .sla8; đầu vào trigger/pattern sai được từ chối.</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ĐỐI CHIẾU YÊU CẦU VÀ KẾT QUẢ</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14</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THIẾT BỊ LOGIC ANALYZER 8 KÊNH</a:t>
            </a:r>
          </a:p>
        </p:txBody>
      </p:sp>
      <p:sp>
        <p:nvSpPr>
          <p:cNvPr id="16" name="Rounded Rectangle 15"/>
          <p:cNvSpPr/>
          <p:nvPr/>
        </p:nvSpPr>
        <p:spPr>
          <a:xfrm>
            <a:off x="822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508760"/>
            <a:ext cx="100584" cy="2331720"/>
          </a:xfrm>
          <a:prstGeom prst="rect">
            <a:avLst/>
          </a:prstGeom>
          <a:solidFill>
            <a:srgbClr val="003B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673351"/>
            <a:ext cx="4782312" cy="384048"/>
          </a:xfrm>
          <a:prstGeom prst="rect">
            <a:avLst/>
          </a:prstGeom>
          <a:noFill/>
        </p:spPr>
        <p:txBody>
          <a:bodyPr wrap="square" anchor="t" lIns="45720" rIns="45720">
            <a:spAutoFit/>
          </a:bodyPr>
          <a:lstStyle/>
          <a:p>
            <a:pPr algn="l">
              <a:defRPr sz="2100" b="1" i="0">
                <a:solidFill>
                  <a:srgbClr val="003B70"/>
                </a:solidFill>
                <a:latin typeface="Arial"/>
              </a:defRPr>
            </a:pPr>
            <a:r>
              <a:t>✓  8 KÊNH</a:t>
            </a:r>
          </a:p>
        </p:txBody>
      </p:sp>
      <p:sp>
        <p:nvSpPr>
          <p:cNvPr id="19" name="TextBox 18"/>
          <p:cNvSpPr txBox="1"/>
          <p:nvPr/>
        </p:nvSpPr>
        <p:spPr>
          <a:xfrm>
            <a:off x="1042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Yêu cầu ≥ 2</a:t>
            </a:r>
          </a:p>
        </p:txBody>
      </p:sp>
      <p:sp>
        <p:nvSpPr>
          <p:cNvPr id="20" name="Rounded Rectangle 19"/>
          <p:cNvSpPr/>
          <p:nvPr/>
        </p:nvSpPr>
        <p:spPr>
          <a:xfrm>
            <a:off x="6537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37960" y="1508760"/>
            <a:ext cx="100584" cy="2331720"/>
          </a:xfrm>
          <a:prstGeom prst="rect">
            <a:avLst/>
          </a:prstGeom>
          <a:solidFill>
            <a:srgbClr val="1C6E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57416" y="1673351"/>
            <a:ext cx="4782312" cy="384048"/>
          </a:xfrm>
          <a:prstGeom prst="rect">
            <a:avLst/>
          </a:prstGeom>
          <a:noFill/>
        </p:spPr>
        <p:txBody>
          <a:bodyPr wrap="square" anchor="t" lIns="45720" rIns="45720">
            <a:spAutoFit/>
          </a:bodyPr>
          <a:lstStyle/>
          <a:p>
            <a:pPr algn="l">
              <a:defRPr sz="2100" b="1" i="0">
                <a:solidFill>
                  <a:srgbClr val="1C6EA4"/>
                </a:solidFill>
                <a:latin typeface="Arial"/>
              </a:defRPr>
            </a:pPr>
            <a:r>
              <a:t>✓  1 kHz → 6,545 MS/s</a:t>
            </a:r>
          </a:p>
        </p:txBody>
      </p:sp>
      <p:sp>
        <p:nvSpPr>
          <p:cNvPr id="23" name="TextBox 22"/>
          <p:cNvSpPr txBox="1"/>
          <p:nvPr/>
        </p:nvSpPr>
        <p:spPr>
          <a:xfrm>
            <a:off x="6757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Yêu cầu từ 1 kHz</a:t>
            </a:r>
          </a:p>
        </p:txBody>
      </p:sp>
      <p:sp>
        <p:nvSpPr>
          <p:cNvPr id="24" name="Rounded Rectangle 23"/>
          <p:cNvSpPr/>
          <p:nvPr/>
        </p:nvSpPr>
        <p:spPr>
          <a:xfrm>
            <a:off x="12252960" y="150876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2252960" y="1508760"/>
            <a:ext cx="100584" cy="2331720"/>
          </a:xfrm>
          <a:prstGeom prst="rect">
            <a:avLst/>
          </a:prstGeom>
          <a:solidFill>
            <a:srgbClr val="189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472416" y="1673351"/>
            <a:ext cx="4782312" cy="384048"/>
          </a:xfrm>
          <a:prstGeom prst="rect">
            <a:avLst/>
          </a:prstGeom>
          <a:noFill/>
        </p:spPr>
        <p:txBody>
          <a:bodyPr wrap="square" anchor="t" lIns="45720" rIns="45720">
            <a:spAutoFit/>
          </a:bodyPr>
          <a:lstStyle/>
          <a:p>
            <a:pPr algn="l">
              <a:defRPr sz="2100" b="1" i="0">
                <a:solidFill>
                  <a:srgbClr val="1892B8"/>
                </a:solidFill>
                <a:latin typeface="Arial"/>
              </a:defRPr>
            </a:pPr>
            <a:r>
              <a:t>✓  GUI 8 KÊNH</a:t>
            </a:r>
          </a:p>
        </p:txBody>
      </p:sp>
      <p:sp>
        <p:nvSpPr>
          <p:cNvPr id="27" name="TextBox 26"/>
          <p:cNvSpPr txBox="1"/>
          <p:nvPr/>
        </p:nvSpPr>
        <p:spPr>
          <a:xfrm>
            <a:off x="12472416" y="213055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Waveform + đo cạnh</a:t>
            </a:r>
          </a:p>
        </p:txBody>
      </p:sp>
      <p:sp>
        <p:nvSpPr>
          <p:cNvPr id="28" name="Rounded Rectangle 27"/>
          <p:cNvSpPr/>
          <p:nvPr/>
        </p:nvSpPr>
        <p:spPr>
          <a:xfrm>
            <a:off x="822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 y="4572000"/>
            <a:ext cx="100584" cy="233172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42416" y="4736592"/>
            <a:ext cx="4782312" cy="384048"/>
          </a:xfrm>
          <a:prstGeom prst="rect">
            <a:avLst/>
          </a:prstGeom>
          <a:noFill/>
        </p:spPr>
        <p:txBody>
          <a:bodyPr wrap="square" anchor="t" lIns="45720" rIns="45720">
            <a:spAutoFit/>
          </a:bodyPr>
          <a:lstStyle/>
          <a:p>
            <a:pPr algn="l">
              <a:defRPr sz="2100" b="1" i="0">
                <a:solidFill>
                  <a:srgbClr val="1B8A5A"/>
                </a:solidFill>
                <a:latin typeface="Arial"/>
              </a:defRPr>
            </a:pPr>
            <a:r>
              <a:t>✓  UART · I2C · SPI</a:t>
            </a:r>
          </a:p>
        </p:txBody>
      </p:sp>
      <p:sp>
        <p:nvSpPr>
          <p:cNvPr id="31" name="TextBox 30"/>
          <p:cNvSpPr txBox="1"/>
          <p:nvPr/>
        </p:nvSpPr>
        <p:spPr>
          <a:xfrm>
            <a:off x="1042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Đã kiểm chứng vật lý</a:t>
            </a:r>
          </a:p>
        </p:txBody>
      </p:sp>
      <p:sp>
        <p:nvSpPr>
          <p:cNvPr id="32" name="Rounded Rectangle 31"/>
          <p:cNvSpPr/>
          <p:nvPr/>
        </p:nvSpPr>
        <p:spPr>
          <a:xfrm>
            <a:off x="6537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37960" y="4572000"/>
            <a:ext cx="100584" cy="233172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57416" y="4736592"/>
            <a:ext cx="4782312" cy="384048"/>
          </a:xfrm>
          <a:prstGeom prst="rect">
            <a:avLst/>
          </a:prstGeom>
          <a:noFill/>
        </p:spPr>
        <p:txBody>
          <a:bodyPr wrap="square" anchor="t" lIns="45720" rIns="45720">
            <a:spAutoFit/>
          </a:bodyPr>
          <a:lstStyle/>
          <a:p>
            <a:pPr algn="l">
              <a:defRPr sz="2100" b="1" i="0">
                <a:solidFill>
                  <a:srgbClr val="C92535"/>
                </a:solidFill>
                <a:latin typeface="Arial"/>
              </a:defRPr>
            </a:pPr>
            <a:r>
              <a:t>✓  10/10 TC</a:t>
            </a:r>
          </a:p>
        </p:txBody>
      </p:sp>
      <p:sp>
        <p:nvSpPr>
          <p:cNvPr id="35" name="TextBox 34"/>
          <p:cNvSpPr txBox="1"/>
          <p:nvPr/>
        </p:nvSpPr>
        <p:spPr>
          <a:xfrm>
            <a:off x="6757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Toàn bộ kịch bản đạt</a:t>
            </a:r>
          </a:p>
        </p:txBody>
      </p:sp>
      <p:sp>
        <p:nvSpPr>
          <p:cNvPr id="36" name="Rounded Rectangle 35"/>
          <p:cNvSpPr/>
          <p:nvPr/>
        </p:nvSpPr>
        <p:spPr>
          <a:xfrm>
            <a:off x="12252960" y="4572000"/>
            <a:ext cx="5166360" cy="233172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252960" y="4572000"/>
            <a:ext cx="100584" cy="2331720"/>
          </a:xfrm>
          <a:prstGeom prst="rect">
            <a:avLst/>
          </a:prstGeom>
          <a:solidFill>
            <a:srgbClr val="D278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472416" y="4736592"/>
            <a:ext cx="4782312" cy="384048"/>
          </a:xfrm>
          <a:prstGeom prst="rect">
            <a:avLst/>
          </a:prstGeom>
          <a:noFill/>
        </p:spPr>
        <p:txBody>
          <a:bodyPr wrap="square" anchor="t" lIns="45720" rIns="45720">
            <a:spAutoFit/>
          </a:bodyPr>
          <a:lstStyle/>
          <a:p>
            <a:pPr algn="l">
              <a:defRPr sz="2100" b="1" i="0">
                <a:solidFill>
                  <a:srgbClr val="D27814"/>
                </a:solidFill>
                <a:latin typeface="Arial"/>
              </a:defRPr>
            </a:pPr>
            <a:r>
              <a:t>✓  FAIL-SAFE</a:t>
            </a:r>
          </a:p>
        </p:txBody>
      </p:sp>
      <p:sp>
        <p:nvSpPr>
          <p:cNvPr id="39" name="TextBox 38"/>
          <p:cNvSpPr txBox="1"/>
          <p:nvPr/>
        </p:nvSpPr>
        <p:spPr>
          <a:xfrm>
            <a:off x="12472416" y="5193792"/>
            <a:ext cx="4782312" cy="1581912"/>
          </a:xfrm>
          <a:prstGeom prst="rect">
            <a:avLst/>
          </a:prstGeom>
          <a:noFill/>
        </p:spPr>
        <p:txBody>
          <a:bodyPr wrap="square" anchor="t" lIns="45720" rIns="45720">
            <a:spAutoFit/>
          </a:bodyPr>
          <a:lstStyle/>
          <a:p>
            <a:pPr algn="l">
              <a:defRPr sz="1700" b="0" i="0">
                <a:solidFill>
                  <a:srgbClr val="1E2A35"/>
                </a:solidFill>
                <a:latin typeface="Arial"/>
              </a:defRPr>
            </a:pPr>
            <a:r>
              <a:t>Từ chối rate/cấu hình sai</a:t>
            </a:r>
          </a:p>
        </p:txBody>
      </p:sp>
      <p:sp>
        <p:nvSpPr>
          <p:cNvPr id="40" name="TextBox 39"/>
          <p:cNvSpPr txBox="1"/>
          <p:nvPr/>
        </p:nvSpPr>
        <p:spPr>
          <a:xfrm>
            <a:off x="2743200" y="8092440"/>
            <a:ext cx="12801600" cy="457200"/>
          </a:xfrm>
          <a:prstGeom prst="rect">
            <a:avLst/>
          </a:prstGeom>
          <a:noFill/>
        </p:spPr>
        <p:txBody>
          <a:bodyPr wrap="square" anchor="t" lIns="45720" rIns="45720">
            <a:spAutoFit/>
          </a:bodyPr>
          <a:lstStyle/>
          <a:p>
            <a:pPr algn="ctr">
              <a:defRPr sz="1700" b="1" i="0">
                <a:solidFill>
                  <a:srgbClr val="003B70"/>
                </a:solidFill>
                <a:latin typeface="Arial"/>
              </a:defRPr>
            </a:pPr>
            <a:r>
              <a:t>Kết quả được chốt từ metrics.json và capture .sla8 ngày 18/07/2026.</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name="Group 2" id="2"/>
          <p:cNvGrpSpPr/>
          <p:nvPr/>
        </p:nvGrpSpPr>
        <p:grpSpPr>
          <a:xfrm rot="0">
            <a:off x="0" y="0"/>
            <a:ext cx="18301840" cy="988324"/>
            <a:chOff x="0" y="0"/>
            <a:chExt cx="24402453" cy="1317765"/>
          </a:xfrm>
        </p:grpSpPr>
        <p:sp>
          <p:nvSpPr>
            <p:cNvPr name="Freeform 3" id="3"/>
            <p:cNvSpPr/>
            <p:nvPr/>
          </p:nvSpPr>
          <p:spPr>
            <a:xfrm flipH="false" flipV="false" rot="0">
              <a:off x="0" y="0"/>
              <a:ext cx="24402414" cy="1317752"/>
            </a:xfrm>
            <a:custGeom>
              <a:avLst/>
              <a:gdLst/>
              <a:ahLst/>
              <a:cxnLst/>
              <a:rect r="r" b="b" t="t" l="l"/>
              <a:pathLst>
                <a:path h="1317752" w="24402414">
                  <a:moveTo>
                    <a:pt x="0" y="0"/>
                  </a:moveTo>
                  <a:lnTo>
                    <a:pt x="24402414" y="0"/>
                  </a:lnTo>
                  <a:lnTo>
                    <a:pt x="24402414" y="1317752"/>
                  </a:lnTo>
                  <a:lnTo>
                    <a:pt x="0" y="1317752"/>
                  </a:lnTo>
                  <a:close/>
                </a:path>
              </a:pathLst>
            </a:custGeom>
            <a:solidFill>
              <a:srgbClr val="003366"/>
            </a:solidFill>
          </p:spPr>
        </p:sp>
      </p:grpSp>
      <p:grpSp>
        <p:nvGrpSpPr>
          <p:cNvPr name="Group 4" id="4"/>
          <p:cNvGrpSpPr/>
          <p:nvPr/>
        </p:nvGrpSpPr>
        <p:grpSpPr>
          <a:xfrm rot="0">
            <a:off x="0" y="1084412"/>
            <a:ext cx="18301840" cy="68637"/>
            <a:chOff x="0" y="0"/>
            <a:chExt cx="24402453" cy="91516"/>
          </a:xfrm>
        </p:grpSpPr>
        <p:sp>
          <p:nvSpPr>
            <p:cNvPr name="Freeform 5" id="5"/>
            <p:cNvSpPr/>
            <p:nvPr/>
          </p:nvSpPr>
          <p:spPr>
            <a:xfrm flipH="false" flipV="false" rot="0">
              <a:off x="0" y="0"/>
              <a:ext cx="24402414" cy="91567"/>
            </a:xfrm>
            <a:custGeom>
              <a:avLst/>
              <a:gdLst/>
              <a:ahLst/>
              <a:cxnLst/>
              <a:rect r="r" b="b" t="t" l="l"/>
              <a:pathLst>
                <a:path h="91567" w="24402414">
                  <a:moveTo>
                    <a:pt x="0" y="0"/>
                  </a:moveTo>
                  <a:lnTo>
                    <a:pt x="24402414" y="0"/>
                  </a:lnTo>
                  <a:lnTo>
                    <a:pt x="24402414" y="91567"/>
                  </a:lnTo>
                  <a:lnTo>
                    <a:pt x="0" y="91567"/>
                  </a:lnTo>
                  <a:close/>
                </a:path>
              </a:pathLst>
            </a:custGeom>
            <a:solidFill>
              <a:srgbClr val="C02034"/>
            </a:solidFill>
          </p:spPr>
        </p:sp>
      </p:grpSp>
      <p:grpSp>
        <p:nvGrpSpPr>
          <p:cNvPr name="Group 6" id="6"/>
          <p:cNvGrpSpPr/>
          <p:nvPr/>
        </p:nvGrpSpPr>
        <p:grpSpPr>
          <a:xfrm rot="0">
            <a:off x="549069" y="9361627"/>
            <a:ext cx="507892" cy="754971"/>
            <a:chOff x="0" y="0"/>
            <a:chExt cx="677189" cy="1006627"/>
          </a:xfrm>
        </p:grpSpPr>
        <p:sp>
          <p:nvSpPr>
            <p:cNvPr name="Freeform 7" id="7" descr="/tmp/stpslides/assets/hust_logo.jpeg"/>
            <p:cNvSpPr/>
            <p:nvPr/>
          </p:nvSpPr>
          <p:spPr>
            <a:xfrm flipH="false" flipV="false" rot="0">
              <a:off x="0" y="0"/>
              <a:ext cx="677164" cy="1006602"/>
            </a:xfrm>
            <a:custGeom>
              <a:avLst/>
              <a:gdLst/>
              <a:ahLst/>
              <a:cxnLst/>
              <a:rect r="r" b="b" t="t" l="l"/>
              <a:pathLst>
                <a:path h="1006602" w="677164">
                  <a:moveTo>
                    <a:pt x="0" y="0"/>
                  </a:moveTo>
                  <a:lnTo>
                    <a:pt x="677164" y="0"/>
                  </a:lnTo>
                  <a:lnTo>
                    <a:pt x="677164" y="1006602"/>
                  </a:lnTo>
                  <a:lnTo>
                    <a:pt x="0" y="1006602"/>
                  </a:lnTo>
                  <a:lnTo>
                    <a:pt x="0" y="0"/>
                  </a:lnTo>
                  <a:close/>
                </a:path>
              </a:pathLst>
            </a:custGeom>
            <a:blipFill>
              <a:blip r:embed="rId2"/>
              <a:stretch>
                <a:fillRect l="-71" t="0" r="-75" b="-2"/>
              </a:stretch>
            </a:blipFill>
          </p:spPr>
        </p:sp>
      </p:grpSp>
      <p:grpSp>
        <p:nvGrpSpPr>
          <p:cNvPr name="Group 8" id="8"/>
          <p:cNvGrpSpPr/>
          <p:nvPr/>
        </p:nvGrpSpPr>
        <p:grpSpPr>
          <a:xfrm rot="0">
            <a:off x="1235402" y="9361627"/>
            <a:ext cx="4941618" cy="754971"/>
            <a:chOff x="0" y="0"/>
            <a:chExt cx="6588823" cy="1006627"/>
          </a:xfrm>
        </p:grpSpPr>
        <p:sp>
          <p:nvSpPr>
            <p:cNvPr name="Freeform 9" id="9"/>
            <p:cNvSpPr/>
            <p:nvPr/>
          </p:nvSpPr>
          <p:spPr>
            <a:xfrm flipH="false" flipV="false" rot="0">
              <a:off x="0" y="0"/>
              <a:ext cx="6588827" cy="1006626"/>
            </a:xfrm>
            <a:custGeom>
              <a:avLst/>
              <a:gdLst/>
              <a:ahLst/>
              <a:cxnLst/>
              <a:rect r="r" b="b" t="t" l="l"/>
              <a:pathLst>
                <a:path h="1006626" w="6588827">
                  <a:moveTo>
                    <a:pt x="0" y="0"/>
                  </a:moveTo>
                  <a:lnTo>
                    <a:pt x="6588827" y="0"/>
                  </a:lnTo>
                  <a:lnTo>
                    <a:pt x="6588827" y="1006626"/>
                  </a:lnTo>
                  <a:lnTo>
                    <a:pt x="0" y="1006626"/>
                  </a:lnTo>
                  <a:close/>
                </a:path>
              </a:pathLst>
            </a:custGeom>
            <a:blipFill>
              <a:blip r:embed="rId3">
                <a:alphaModFix amt="0"/>
              </a:blip>
              <a:stretch>
                <a:fillRect l="0" t="-77538" r="0" b="-77538"/>
              </a:stretch>
            </a:blipFill>
          </p:spPr>
        </p:sp>
        <p:sp>
          <p:nvSpPr>
            <p:cNvPr name="TextBox 10" id="10"/>
            <p:cNvSpPr txBox="true"/>
            <p:nvPr/>
          </p:nvSpPr>
          <p:spPr>
            <a:xfrm>
              <a:off x="0" y="-19050"/>
              <a:ext cx="6588823" cy="1025677"/>
            </a:xfrm>
            <a:prstGeom prst="rect">
              <a:avLst/>
            </a:prstGeom>
          </p:spPr>
          <p:txBody>
            <a:bodyPr anchor="ctr" rtlCol="false" tIns="0" lIns="0" bIns="0" rIns="0"/>
            <a:lstStyle/>
            <a:p>
              <a:pPr algn="l">
                <a:lnSpc>
                  <a:spcPts val="2161"/>
                </a:lnSpc>
              </a:pPr>
              <a:r>
                <a:rPr lang="en-US" sz="1801" b="true">
                  <a:solidFill>
                    <a:srgbClr val="003366"/>
                  </a:solidFill>
                  <a:latin typeface="Arial Bold"/>
                  <a:ea typeface="Arial Bold"/>
                  <a:cs typeface="Arial Bold"/>
                  <a:sym typeface="Arial Bold"/>
                </a:rPr>
                <a:t>TRƯỜNG ĐẠI HỌC BÁCH KHOA HÀ NỘI</a:t>
              </a:r>
            </a:p>
            <a:p>
              <a:pPr algn="l">
                <a:lnSpc>
                  <a:spcPts val="1441"/>
                </a:lnSpc>
              </a:pPr>
              <a:r>
                <a:rPr lang="en-US" sz="1200">
                  <a:solidFill>
                    <a:srgbClr val="003366"/>
                  </a:solidFill>
                  <a:latin typeface="Arial"/>
                  <a:ea typeface="Arial"/>
                  <a:cs typeface="Arial"/>
                  <a:sym typeface="Arial"/>
                </a:rPr>
                <a:t>HANOI UNIVERSITY OF SCIENCE AND TECHNOLOGY</a:t>
              </a:r>
            </a:p>
          </p:txBody>
        </p:sp>
      </p:grpSp>
      <p:grpSp>
        <p:nvGrpSpPr>
          <p:cNvPr name="Group 11" id="11"/>
          <p:cNvGrpSpPr/>
          <p:nvPr/>
        </p:nvGrpSpPr>
        <p:grpSpPr>
          <a:xfrm rot="0">
            <a:off x="6382931" y="9787157"/>
            <a:ext cx="11393176" cy="48044"/>
            <a:chOff x="0" y="0"/>
            <a:chExt cx="15190902" cy="64059"/>
          </a:xfrm>
        </p:grpSpPr>
        <p:sp>
          <p:nvSpPr>
            <p:cNvPr name="Freeform 12" id="12"/>
            <p:cNvSpPr/>
            <p:nvPr/>
          </p:nvSpPr>
          <p:spPr>
            <a:xfrm flipH="false" flipV="false" rot="0">
              <a:off x="0" y="0"/>
              <a:ext cx="15190851" cy="64008"/>
            </a:xfrm>
            <a:custGeom>
              <a:avLst/>
              <a:gdLst/>
              <a:ahLst/>
              <a:cxnLst/>
              <a:rect r="r" b="b" t="t" l="l"/>
              <a:pathLst>
                <a:path h="64008" w="15190851">
                  <a:moveTo>
                    <a:pt x="0" y="0"/>
                  </a:moveTo>
                  <a:lnTo>
                    <a:pt x="15190851" y="0"/>
                  </a:lnTo>
                  <a:lnTo>
                    <a:pt x="15190851" y="64008"/>
                  </a:lnTo>
                  <a:lnTo>
                    <a:pt x="0" y="64008"/>
                  </a:lnTo>
                  <a:close/>
                </a:path>
              </a:pathLst>
            </a:custGeom>
            <a:solidFill>
              <a:srgbClr val="C02034"/>
            </a:solidFill>
          </p:spPr>
        </p:sp>
      </p:grpSp>
      <p:sp>
        <p:nvSpPr>
          <p:cNvPr id="13" name="TextBox 12"/>
          <p:cNvSpPr txBox="1"/>
          <p:nvPr/>
        </p:nvSpPr>
        <p:spPr>
          <a:xfrm>
            <a:off x="685800" y="246888"/>
            <a:ext cx="15361920" cy="502920"/>
          </a:xfrm>
          <a:prstGeom prst="rect">
            <a:avLst/>
          </a:prstGeom>
          <a:noFill/>
        </p:spPr>
        <p:txBody>
          <a:bodyPr wrap="square" anchor="ctr" lIns="45720" rIns="45720">
            <a:spAutoFit/>
          </a:bodyPr>
          <a:lstStyle/>
          <a:p>
            <a:pPr algn="l">
              <a:defRPr sz="2700" b="1" i="0">
                <a:solidFill>
                  <a:srgbClr val="FFFFFF"/>
                </a:solidFill>
                <a:latin typeface="Arial"/>
              </a:defRPr>
            </a:pPr>
            <a:r>
              <a:t>HẠN CHẾ, HƯỚNG PHÁT TRIỂN VÀ KẾT LUẬN</a:t>
            </a:r>
          </a:p>
        </p:txBody>
      </p:sp>
      <p:sp>
        <p:nvSpPr>
          <p:cNvPr id="14" name="TextBox 13"/>
          <p:cNvSpPr txBox="1"/>
          <p:nvPr/>
        </p:nvSpPr>
        <p:spPr>
          <a:xfrm>
            <a:off x="16550640" y="246888"/>
            <a:ext cx="914400" cy="457200"/>
          </a:xfrm>
          <a:prstGeom prst="rect">
            <a:avLst/>
          </a:prstGeom>
          <a:noFill/>
        </p:spPr>
        <p:txBody>
          <a:bodyPr wrap="square" anchor="ctr" lIns="45720" rIns="45720">
            <a:spAutoFit/>
          </a:bodyPr>
          <a:lstStyle/>
          <a:p>
            <a:pPr algn="r">
              <a:defRPr sz="1800" b="1" i="0">
                <a:solidFill>
                  <a:srgbClr val="FFFFFF"/>
                </a:solidFill>
                <a:latin typeface="Arial"/>
              </a:defRPr>
            </a:pPr>
            <a:r>
              <a:t>15</a:t>
            </a:r>
          </a:p>
        </p:txBody>
      </p:sp>
      <p:sp>
        <p:nvSpPr>
          <p:cNvPr id="15" name="TextBox 14"/>
          <p:cNvSpPr txBox="1"/>
          <p:nvPr/>
        </p:nvSpPr>
        <p:spPr>
          <a:xfrm>
            <a:off x="12527280" y="9601200"/>
            <a:ext cx="4663440" cy="228600"/>
          </a:xfrm>
          <a:prstGeom prst="rect">
            <a:avLst/>
          </a:prstGeom>
          <a:noFill/>
        </p:spPr>
        <p:txBody>
          <a:bodyPr wrap="square" anchor="t" lIns="45720" rIns="45720">
            <a:spAutoFit/>
          </a:bodyPr>
          <a:lstStyle/>
          <a:p>
            <a:pPr algn="r">
              <a:defRPr sz="900" b="1" i="0">
                <a:solidFill>
                  <a:srgbClr val="003B70"/>
                </a:solidFill>
                <a:latin typeface="Arial"/>
              </a:defRPr>
            </a:pPr>
            <a:r>
              <a:t>KẾT LUẬN</a:t>
            </a:r>
          </a:p>
        </p:txBody>
      </p:sp>
      <p:sp>
        <p:nvSpPr>
          <p:cNvPr id="16" name="Rounded Rectangle 15"/>
          <p:cNvSpPr/>
          <p:nvPr/>
        </p:nvSpPr>
        <p:spPr>
          <a:xfrm>
            <a:off x="822960" y="1417320"/>
            <a:ext cx="7955279" cy="50292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1417320"/>
            <a:ext cx="100584" cy="5029200"/>
          </a:xfrm>
          <a:prstGeom prst="rect">
            <a:avLst/>
          </a:prstGeom>
          <a:solidFill>
            <a:srgbClr val="C92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1581912"/>
            <a:ext cx="7571231" cy="384048"/>
          </a:xfrm>
          <a:prstGeom prst="rect">
            <a:avLst/>
          </a:prstGeom>
          <a:noFill/>
        </p:spPr>
        <p:txBody>
          <a:bodyPr wrap="square" anchor="t" lIns="45720" rIns="45720">
            <a:spAutoFit/>
          </a:bodyPr>
          <a:lstStyle/>
          <a:p>
            <a:pPr algn="l">
              <a:defRPr sz="2200" b="1" i="0">
                <a:solidFill>
                  <a:srgbClr val="C92535"/>
                </a:solidFill>
                <a:latin typeface="Arial"/>
              </a:defRPr>
            </a:pPr>
            <a:r>
              <a:t>HẠN CHẾ HIỆN TẠI</a:t>
            </a:r>
          </a:p>
        </p:txBody>
      </p:sp>
      <p:sp>
        <p:nvSpPr>
          <p:cNvPr id="19" name="TextBox 18"/>
          <p:cNvSpPr txBox="1"/>
          <p:nvPr/>
        </p:nvSpPr>
        <p:spPr>
          <a:xfrm>
            <a:off x="1042416" y="2039112"/>
            <a:ext cx="7571231" cy="4279392"/>
          </a:xfrm>
          <a:prstGeom prst="rect">
            <a:avLst/>
          </a:prstGeom>
          <a:noFill/>
        </p:spPr>
        <p:txBody>
          <a:bodyPr wrap="square" anchor="t" lIns="45720" rIns="45720">
            <a:spAutoFit/>
          </a:bodyPr>
          <a:lstStyle/>
          <a:p>
            <a:pPr algn="l">
              <a:defRPr sz="1800" b="0" i="0">
                <a:solidFill>
                  <a:srgbClr val="1E2A35"/>
                </a:solidFill>
                <a:latin typeface="Arial"/>
              </a:defRPr>
            </a:pPr>
            <a:r>
              <a:t>• Chưa đo jitter tuyệt đối bằng chuẩn thời gian độc lập.</a:t>
            </a:r>
            <a:br/>
            <a:r>
              <a:t>• Chưa có sơ đồ nguyên lý đầu vào đầy đủ.</a:t>
            </a:r>
            <a:br/>
            <a:r>
              <a:t>• SPI mới hỗ trợ cạnh lên, MSB-first.</a:t>
            </a:r>
            <a:br/>
            <a:r>
              <a:t>• Trigger dùng ISR giới hạn ở 400 kS/s.</a:t>
            </a:r>
          </a:p>
        </p:txBody>
      </p:sp>
      <p:sp>
        <p:nvSpPr>
          <p:cNvPr id="20" name="Rounded Rectangle 19"/>
          <p:cNvSpPr/>
          <p:nvPr/>
        </p:nvSpPr>
        <p:spPr>
          <a:xfrm>
            <a:off x="9464040" y="1417320"/>
            <a:ext cx="7955279" cy="5029200"/>
          </a:xfrm>
          <a:prstGeom prst="roundRect">
            <a:avLst/>
          </a:prstGeom>
          <a:solidFill>
            <a:srgbClr val="F1F5F8"/>
          </a:solidFill>
          <a:ln w="12700">
            <a:solidFill>
              <a:srgbClr val="D4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64040" y="1417320"/>
            <a:ext cx="100584" cy="5029200"/>
          </a:xfrm>
          <a:prstGeom prst="rect">
            <a:avLst/>
          </a:prstGeom>
          <a:solidFill>
            <a:srgbClr val="1B8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83496" y="1581912"/>
            <a:ext cx="7571231" cy="384048"/>
          </a:xfrm>
          <a:prstGeom prst="rect">
            <a:avLst/>
          </a:prstGeom>
          <a:noFill/>
        </p:spPr>
        <p:txBody>
          <a:bodyPr wrap="square" anchor="t" lIns="45720" rIns="45720">
            <a:spAutoFit/>
          </a:bodyPr>
          <a:lstStyle/>
          <a:p>
            <a:pPr algn="l">
              <a:defRPr sz="2200" b="1" i="0">
                <a:solidFill>
                  <a:srgbClr val="1B8A5A"/>
                </a:solidFill>
                <a:latin typeface="Arial"/>
              </a:defRPr>
            </a:pPr>
            <a:r>
              <a:t>HƯỚNG PHÁT TRIỂN</a:t>
            </a:r>
          </a:p>
        </p:txBody>
      </p:sp>
      <p:sp>
        <p:nvSpPr>
          <p:cNvPr id="23" name="TextBox 22"/>
          <p:cNvSpPr txBox="1"/>
          <p:nvPr/>
        </p:nvSpPr>
        <p:spPr>
          <a:xfrm>
            <a:off x="9683496" y="2039112"/>
            <a:ext cx="7571231" cy="4279392"/>
          </a:xfrm>
          <a:prstGeom prst="rect">
            <a:avLst/>
          </a:prstGeom>
          <a:noFill/>
        </p:spPr>
        <p:txBody>
          <a:bodyPr wrap="square" anchor="t" lIns="45720" rIns="45720">
            <a:spAutoFit/>
          </a:bodyPr>
          <a:lstStyle/>
          <a:p>
            <a:pPr algn="l">
              <a:defRPr sz="1800" b="0" i="0">
                <a:solidFill>
                  <a:srgbClr val="1E2A35"/>
                </a:solidFill>
                <a:latin typeface="Arial"/>
              </a:defRPr>
            </a:pPr>
            <a:r>
              <a:t>• Đo jitter/skew bằng tín hiệu tham chiếu chung.</a:t>
            </a:r>
            <a:br/>
            <a:r>
              <a:t>• Bổ sung CPOL, CPHA và thứ tự bit cho SPI.</a:t>
            </a:r>
            <a:br/>
            <a:r>
              <a:t>• Hoàn thiện sơ đồ đấu nối và quy trình kiểm mức.</a:t>
            </a:r>
            <a:br/>
            <a:r>
              <a:t>• Tối ưu trigger tốc độ cao.</a:t>
            </a:r>
          </a:p>
        </p:txBody>
      </p:sp>
      <p:sp>
        <p:nvSpPr>
          <p:cNvPr id="24" name="TextBox 23"/>
          <p:cNvSpPr txBox="1"/>
          <p:nvPr/>
        </p:nvSpPr>
        <p:spPr>
          <a:xfrm>
            <a:off x="1463040" y="7086600"/>
            <a:ext cx="15361920" cy="1051560"/>
          </a:xfrm>
          <a:prstGeom prst="rect">
            <a:avLst/>
          </a:prstGeom>
          <a:noFill/>
        </p:spPr>
        <p:txBody>
          <a:bodyPr wrap="square" anchor="ctr" lIns="45720" rIns="45720">
            <a:spAutoFit/>
          </a:bodyPr>
          <a:lstStyle/>
          <a:p>
            <a:pPr algn="ctr">
              <a:defRPr sz="2300" b="1" i="0">
                <a:solidFill>
                  <a:srgbClr val="002D57"/>
                </a:solidFill>
                <a:latin typeface="Arial"/>
              </a:defRPr>
            </a:pPr>
            <a:r>
              <a:t>Mẫu thử logic analyzer 8 kênh đã chạy HIL, giải mã ba giao thức và hành xử an toàn khi vượt giới hạn.</a:t>
            </a:r>
          </a:p>
        </p:txBody>
      </p:sp>
      <p:sp>
        <p:nvSpPr>
          <p:cNvPr id="25" name="TextBox 24"/>
          <p:cNvSpPr txBox="1"/>
          <p:nvPr/>
        </p:nvSpPr>
        <p:spPr>
          <a:xfrm>
            <a:off x="6309360" y="8458200"/>
            <a:ext cx="5669280" cy="502920"/>
          </a:xfrm>
          <a:prstGeom prst="rect">
            <a:avLst/>
          </a:prstGeom>
          <a:noFill/>
        </p:spPr>
        <p:txBody>
          <a:bodyPr wrap="square" anchor="t" lIns="45720" rIns="45720">
            <a:spAutoFit/>
          </a:bodyPr>
          <a:lstStyle/>
          <a:p>
            <a:pPr algn="ctr">
              <a:defRPr sz="2400" b="1" i="0">
                <a:solidFill>
                  <a:srgbClr val="C92535"/>
                </a:solidFill>
                <a:latin typeface="Arial"/>
              </a:defRPr>
            </a:pPr>
            <a:r>
              <a:t>XIN CẢM ƠN!</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DAHNfREViHU</dc:identifier>
  <dcterms:modified xsi:type="dcterms:W3CDTF">2011-08-01T06:04:30Z</dcterms:modified>
  <cp:revision>1</cp:revision>
  <dc:title>BTL_MMT</dc:title>
</cp:coreProperties>
</file>